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c7ccc61-ba8b-eb98-9a0f-298a38dedc66}">
          <p14:sldIdLst>
            <p14:sldId id="256"/>
          </p14:sldIdLst>
        </p14:section>
        <p14:section name="Architecture" id="{93af93c8-826b-d8e3-b58d-eb88c6b61b65}">
          <p14:sldIdLst>
            <p14:sldId id="257"/>
            <p14:sldId id="258"/>
          </p14:sldIdLst>
        </p14:section>
        <p14:section name="Operating model" id="{2240e642-16c9-4509-f25b-f0059d723180}">
          <p14:sldIdLst>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Sentinels automatically analyzes a SQL change, generates and runs tests, and returns a Trust Score for releasing claims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Triggers feed the five-stage pipeline. Prompts for Genie and the LLM come from the skill library. Stages 1, 2 and 4 use AI; execution is deterministic. Platform services provide governance, guardrails, Genie, and operational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to silver to gold is the production medallion. Sandbox holds baseline and candidate outputs for each run. Meta tables hold run history and the prompt audit, and are exposed to Genie.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Prompts are not hard-coded. Skills use includes for shared healthcare context and validate required inputs. The Brain tries Genie first, then the LLM, and logs each prompt to prompt_audit.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00 once, create the Genie Space from the printed instructions, then run 01 and 02. The same notebooks run as a Databricks Job through the Asset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from the offline validation harness, not a live Databricks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Controls: AI Gateway, sandbox isolation, SQL safety guard, prompt audit, Unity Catalog policies, CI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188720"/>
          </a:xfrm>
          <a:prstGeom prst="rect">
            <a:avLst/>
          </a:prstGeom>
          <a:noFill/>
          <a:ln/>
        </p:spPr>
        <p:txBody>
          <a:bodyPr wrap="square" rtlCol="0"/>
          <a:lstStyle>
            <a:lvl1pPr indent="0" marL="0">
              <a:buNone/>
              <a:defRPr lang="en-US" sz="5400" b="1" dirty="0">
                <a:solidFill>
                  <a:schemeClr val="bg1"/>
                </a:solidFill>
                <a:latin typeface="Cambria" pitchFamily="34" charset="0"/>
                <a:ea typeface="Cambria" pitchFamily="34" charset="-122"/>
                <a:cs typeface="Cambria" pitchFamily="34" charset="-120"/>
              </a:defRPr>
            </a:lvl1pPr>
          </a:lstStyle>
          <a:p>
            <a:pPr indent="0" marL="0">
              <a:buNone/>
            </a:pPr>
            <a:endParaRPr lang="en-US" sz="5400" dirty="0"/>
          </a:p>
        </p:txBody>
      </p:sp>
      <p:sp>
        <p:nvSpPr>
          <p:cNvPr id="3" name="Text 0"/>
          <p:cNvSpPr/>
          <p:nvPr>
            <p:ph idx="101" type="body" hasCustomPrompt="1"/>
          </p:nvPr>
        </p:nvSpPr>
        <p:spPr>
          <a:xfrm>
            <a:off x="731520" y="3383280"/>
            <a:ext cx="9601200" cy="100584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lstStyle>
            <a:lvl1pPr indent="0" marL="0">
              <a:buNone/>
              <a:defRPr lang="en-US" sz="3600" b="1" dirty="0">
                <a:solidFill>
                  <a:schemeClr val="tx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SQL Sentinels  |  Healthcare claims regression testing on Databricks</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188720"/>
          </a:xfrm>
          <a:prstGeom prst="rect">
            <a:avLst/>
          </a:prstGeom>
          <a:noFill/>
          <a:ln/>
        </p:spPr>
        <p:txBody>
          <a:bodyPr wrap="square" lIns="0" tIns="0" rIns="0" bIns="0" rtlCol="0"/>
          <a:lstStyle/>
          <a:p>
            <a:pPr indent="0" marL="0">
              <a:buNone/>
            </a:pPr>
            <a:r>
              <a:rPr lang="en-US" sz="5400" b="1" dirty="0">
                <a:solidFill>
                  <a:schemeClr val="bg1"/>
                </a:solidFill>
                <a:latin typeface="Cambria" pitchFamily="34" charset="0"/>
                <a:ea typeface="Cambria" pitchFamily="34" charset="-122"/>
                <a:cs typeface="Cambria" pitchFamily="34" charset="-120"/>
              </a:rPr>
              <a:t>SQL Sentinels</a:t>
            </a:r>
            <a:endParaRPr lang="en-US" sz="5400" dirty="0"/>
          </a:p>
        </p:txBody>
      </p:sp>
      <p:sp>
        <p:nvSpPr>
          <p:cNvPr id="3" name="Text 0"/>
          <p:cNvSpPr/>
          <p:nvPr>
            <p:ph idx="101" type="body" hasCustomPrompt="1"/>
          </p:nvPr>
        </p:nvSpPr>
        <p:spPr>
          <a:xfrm>
            <a:off x="731520" y="3383280"/>
            <a:ext cx="9601200" cy="1005840"/>
          </a:xfrm>
          <a:prstGeom prst="rect">
            <a:avLst/>
          </a:prstGeom>
          <a:noFill/>
          <a:ln/>
        </p:spPr>
        <p:txBody>
          <a:bodyPr wrap="square" lIns="0" tIns="0" rIns="0" bIns="0" rtlCol="0"/>
          <a:lstStyle/>
          <a:p>
            <a:pPr indent="0" marL="0">
              <a:buNone/>
            </a:pPr>
            <a:r>
              <a:rPr lang="en-US" sz="2200" dirty="0">
                <a:solidFill>
                  <a:schemeClr val="bg2"/>
                </a:solidFill>
              </a:rPr>
              <a:t>Autonomous regression testing for healthcare claims on Databricks - Genie-driven, skill-powered, trust-scored</a:t>
            </a:r>
            <a:endParaRPr lang="en-US" sz="2200" dirty="0"/>
          </a:p>
        </p:txBody>
      </p:sp>
      <p:sp>
        <p:nvSpPr>
          <p:cNvPr id="4" name="Text 2"/>
          <p:cNvSpPr txBox="1"/>
          <p:nvPr/>
        </p:nvSpPr>
        <p:spPr>
          <a:xfrm>
            <a:off x="731520" y="5943600"/>
            <a:ext cx="10058400" cy="365760"/>
          </a:xfrm>
          <a:prstGeom prst="rect">
            <a:avLst/>
          </a:prstGeom>
          <a:noFill/>
          <a:ln/>
        </p:spPr>
        <p:txBody>
          <a:bodyPr wrap="square" lIns="0" tIns="0" rIns="0" bIns="0" rtlCol="0" anchor="t"/>
          <a:lstStyle/>
          <a:p>
            <a:pPr indent="0" marL="0">
              <a:buNone/>
            </a:pPr>
            <a:r>
              <a:rPr lang="en-US" sz="1400" dirty="0">
                <a:solidFill>
                  <a:schemeClr val="accent2"/>
                </a:solidFill>
              </a:rPr>
              <a:t>Team SQL Sentinels  |  Autonomous Testing, Continuous Trust</a:t>
            </a:r>
            <a:endParaRPr lang="en-US" sz="1400" dirty="0"/>
          </a:p>
        </p:txBody>
      </p:sp>
      <p:sp>
        <p:nvSpPr>
          <p:cNvPr id="5" name="Shield badge"/>
          <p:cNvSpPr/>
          <p:nvPr/>
        </p:nvSpPr>
        <p:spPr>
          <a:xfrm>
            <a:off x="731520" y="914400"/>
            <a:ext cx="822960" cy="822960"/>
          </a:xfrm>
          <a:prstGeom prst="ellipse">
            <a:avLst/>
          </a:prstGeom>
          <a:solidFill>
            <a:schemeClr val="accent1"/>
          </a:solidFill>
          <a:ln w="12700">
            <a:solidFill>
              <a:schemeClr val="accent1"/>
            </a:solidFill>
            <a:prstDash val="solid"/>
          </a:ln>
        </p:spPr>
      </p:sp>
      <p:pic>
        <p:nvPicPr>
          <p:cNvPr id="6" name="Shield icon" descr="Shield">    </p:cNvPr>
          <p:cNvPicPr>
            <a:picLocks noChangeAspect="1"/>
          </p:cNvPicPr>
          <p:nvPr/>
        </p:nvPicPr>
        <p:blipFill>
          <a:blip r:embed="rId1"/>
          <a:stretch>
            <a:fillRect/>
          </a:stretch>
        </p:blipFill>
        <p:spPr>
          <a:xfrm>
            <a:off x="937260" y="1120140"/>
            <a:ext cx="411480" cy="411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Solution architecture</a:t>
            </a:r>
            <a:endParaRPr lang="en-US" sz="3600" dirty="0"/>
          </a:p>
        </p:txBody>
      </p:sp>
      <p:sp>
        <p:nvSpPr>
          <p:cNvPr id="3" name="Trigger 1"/>
          <p:cNvSpPr/>
          <p:nvPr/>
        </p:nvSpPr>
        <p:spPr>
          <a:xfrm>
            <a:off x="548640" y="1097280"/>
            <a:ext cx="3566160" cy="566928"/>
          </a:xfrm>
          <a:prstGeom prst="roundRect">
            <a:avLst>
              <a:gd name="adj" fmla="val 12903"/>
            </a:avLst>
          </a:prstGeom>
          <a:solidFill>
            <a:schemeClr val="bg2"/>
          </a:solidFill>
          <a:ln w="12700">
            <a:solidFill>
              <a:schemeClr val="bg2"/>
            </a:solidFill>
            <a:prstDash val="solid"/>
          </a:ln>
        </p:spPr>
      </p:sp>
      <p:sp>
        <p:nvSpPr>
          <p:cNvPr id="4" name="Git PR / CI webhook badge"/>
          <p:cNvSpPr/>
          <p:nvPr/>
        </p:nvSpPr>
        <p:spPr>
          <a:xfrm>
            <a:off x="658368" y="1179576"/>
            <a:ext cx="402336" cy="402336"/>
          </a:xfrm>
          <a:prstGeom prst="ellipse">
            <a:avLst/>
          </a:prstGeom>
          <a:solidFill>
            <a:schemeClr val="accent1"/>
          </a:solidFill>
          <a:ln w="12700">
            <a:solidFill>
              <a:schemeClr val="accent1"/>
            </a:solidFill>
            <a:prstDash val="solid"/>
          </a:ln>
        </p:spPr>
      </p:sp>
      <p:pic>
        <p:nvPicPr>
          <p:cNvPr id="5" name="Git PR / CI webhook icon" descr="Git PR / CI webhook">    </p:cNvPr>
          <p:cNvPicPr>
            <a:picLocks noChangeAspect="1"/>
          </p:cNvPicPr>
          <p:nvPr/>
        </p:nvPicPr>
        <p:blipFill>
          <a:blip r:embed="rId1"/>
          <a:stretch>
            <a:fillRect/>
          </a:stretch>
        </p:blipFill>
        <p:spPr>
          <a:xfrm>
            <a:off x="758952" y="1280160"/>
            <a:ext cx="201168" cy="201168"/>
          </a:xfrm>
          <a:prstGeom prst="rect">
            <a:avLst/>
          </a:prstGeom>
        </p:spPr>
      </p:pic>
      <p:sp>
        <p:nvSpPr>
          <p:cNvPr id="6" name="Text 3"/>
          <p:cNvSpPr txBox="1"/>
          <p:nvPr/>
        </p:nvSpPr>
        <p:spPr>
          <a:xfrm>
            <a:off x="1170432" y="1097280"/>
            <a:ext cx="2834640" cy="566928"/>
          </a:xfrm>
          <a:prstGeom prst="rect">
            <a:avLst/>
          </a:prstGeom>
          <a:noFill/>
          <a:ln/>
        </p:spPr>
        <p:txBody>
          <a:bodyPr wrap="square" lIns="0" tIns="0" rIns="0" bIns="0" rtlCol="0" anchor="ctr"/>
          <a:lstStyle/>
          <a:p>
            <a:pPr indent="0" marL="0">
              <a:buNone/>
            </a:pPr>
            <a:r>
              <a:rPr lang="en-US" sz="1400" b="1" dirty="0">
                <a:solidFill>
                  <a:schemeClr val="tx1"/>
                </a:solidFill>
              </a:rPr>
              <a:t>Git PR / CI webhook</a:t>
            </a:r>
            <a:endParaRPr lang="en-US" sz="1400" dirty="0"/>
          </a:p>
        </p:txBody>
      </p:sp>
      <p:sp>
        <p:nvSpPr>
          <p:cNvPr id="7" name="Trigger arrow 1"/>
          <p:cNvSpPr/>
          <p:nvPr/>
        </p:nvSpPr>
        <p:spPr>
          <a:xfrm>
            <a:off x="2331720" y="1682496"/>
            <a:ext cx="0" cy="164592"/>
          </a:xfrm>
          <a:prstGeom prst="line">
            <a:avLst/>
          </a:prstGeom>
          <a:noFill/>
          <a:ln w="28575">
            <a:solidFill>
              <a:schemeClr val="accent1"/>
            </a:solidFill>
            <a:prstDash val="solid"/>
            <a:tailEnd type="triangle"/>
          </a:ln>
        </p:spPr>
      </p:sp>
      <p:sp>
        <p:nvSpPr>
          <p:cNvPr id="8" name="Trigger 2"/>
          <p:cNvSpPr/>
          <p:nvPr/>
        </p:nvSpPr>
        <p:spPr>
          <a:xfrm>
            <a:off x="4297680" y="1097280"/>
            <a:ext cx="3566160" cy="566928"/>
          </a:xfrm>
          <a:prstGeom prst="roundRect">
            <a:avLst>
              <a:gd name="adj" fmla="val 12903"/>
            </a:avLst>
          </a:prstGeom>
          <a:solidFill>
            <a:schemeClr val="bg2"/>
          </a:solidFill>
          <a:ln w="12700">
            <a:solidFill>
              <a:schemeClr val="bg2"/>
            </a:solidFill>
            <a:prstDash val="solid"/>
          </a:ln>
        </p:spPr>
      </p:sp>
      <p:sp>
        <p:nvSpPr>
          <p:cNvPr id="9" name="Databricks Job (Asset Bundle) badge"/>
          <p:cNvSpPr/>
          <p:nvPr/>
        </p:nvSpPr>
        <p:spPr>
          <a:xfrm>
            <a:off x="4407408" y="1179576"/>
            <a:ext cx="402336" cy="402336"/>
          </a:xfrm>
          <a:prstGeom prst="ellipse">
            <a:avLst/>
          </a:prstGeom>
          <a:solidFill>
            <a:schemeClr val="accent1"/>
          </a:solidFill>
          <a:ln w="12700">
            <a:solidFill>
              <a:schemeClr val="accent1"/>
            </a:solidFill>
            <a:prstDash val="solid"/>
          </a:ln>
        </p:spPr>
      </p:sp>
      <p:pic>
        <p:nvPicPr>
          <p:cNvPr id="10" name="Databricks Job (Asset Bundle) icon" descr="Databricks Job (Asset Bundle)">    </p:cNvPr>
          <p:cNvPicPr>
            <a:picLocks noChangeAspect="1"/>
          </p:cNvPicPr>
          <p:nvPr/>
        </p:nvPicPr>
        <p:blipFill>
          <a:blip r:embed="rId2"/>
          <a:stretch>
            <a:fillRect/>
          </a:stretch>
        </p:blipFill>
        <p:spPr>
          <a:xfrm>
            <a:off x="4507992" y="1280160"/>
            <a:ext cx="201168" cy="201168"/>
          </a:xfrm>
          <a:prstGeom prst="rect">
            <a:avLst/>
          </a:prstGeom>
        </p:spPr>
      </p:pic>
      <p:sp>
        <p:nvSpPr>
          <p:cNvPr id="11" name="Text 7"/>
          <p:cNvSpPr txBox="1"/>
          <p:nvPr/>
        </p:nvSpPr>
        <p:spPr>
          <a:xfrm>
            <a:off x="4919472" y="1097280"/>
            <a:ext cx="2834640" cy="566928"/>
          </a:xfrm>
          <a:prstGeom prst="rect">
            <a:avLst/>
          </a:prstGeom>
          <a:noFill/>
          <a:ln/>
        </p:spPr>
        <p:txBody>
          <a:bodyPr wrap="square" lIns="0" tIns="0" rIns="0" bIns="0" rtlCol="0" anchor="ctr"/>
          <a:lstStyle/>
          <a:p>
            <a:pPr indent="0" marL="0">
              <a:buNone/>
            </a:pPr>
            <a:r>
              <a:rPr lang="en-US" sz="1400" b="1" dirty="0">
                <a:solidFill>
                  <a:schemeClr val="tx1"/>
                </a:solidFill>
              </a:rPr>
              <a:t>Databricks Job (Asset Bundle)</a:t>
            </a:r>
            <a:endParaRPr lang="en-US" sz="1400" dirty="0"/>
          </a:p>
        </p:txBody>
      </p:sp>
      <p:sp>
        <p:nvSpPr>
          <p:cNvPr id="12" name="Trigger arrow 2"/>
          <p:cNvSpPr/>
          <p:nvPr/>
        </p:nvSpPr>
        <p:spPr>
          <a:xfrm>
            <a:off x="6080760" y="1682496"/>
            <a:ext cx="0" cy="164592"/>
          </a:xfrm>
          <a:prstGeom prst="line">
            <a:avLst/>
          </a:prstGeom>
          <a:noFill/>
          <a:ln w="28575">
            <a:solidFill>
              <a:schemeClr val="accent1"/>
            </a:solidFill>
            <a:prstDash val="solid"/>
            <a:tailEnd type="triangle"/>
          </a:ln>
        </p:spPr>
      </p:sp>
      <p:sp>
        <p:nvSpPr>
          <p:cNvPr id="13" name="Trigger 3"/>
          <p:cNvSpPr/>
          <p:nvPr/>
        </p:nvSpPr>
        <p:spPr>
          <a:xfrm>
            <a:off x="8046720" y="1097280"/>
            <a:ext cx="3566160" cy="566928"/>
          </a:xfrm>
          <a:prstGeom prst="roundRect">
            <a:avLst>
              <a:gd name="adj" fmla="val 12903"/>
            </a:avLst>
          </a:prstGeom>
          <a:solidFill>
            <a:schemeClr val="bg2"/>
          </a:solidFill>
          <a:ln w="12700">
            <a:solidFill>
              <a:schemeClr val="bg2"/>
            </a:solidFill>
            <a:prstDash val="solid"/>
          </a:ln>
        </p:spPr>
      </p:sp>
      <p:sp>
        <p:nvSpPr>
          <p:cNvPr id="14" name="Notebook or Databricks App badge"/>
          <p:cNvSpPr/>
          <p:nvPr/>
        </p:nvSpPr>
        <p:spPr>
          <a:xfrm>
            <a:off x="8156448" y="1179576"/>
            <a:ext cx="402336" cy="402336"/>
          </a:xfrm>
          <a:prstGeom prst="ellipse">
            <a:avLst/>
          </a:prstGeom>
          <a:solidFill>
            <a:schemeClr val="accent1"/>
          </a:solidFill>
          <a:ln w="12700">
            <a:solidFill>
              <a:schemeClr val="accent1"/>
            </a:solidFill>
            <a:prstDash val="solid"/>
          </a:ln>
        </p:spPr>
      </p:sp>
      <p:pic>
        <p:nvPicPr>
          <p:cNvPr id="15" name="Notebook or Databricks App icon" descr="Notebook or Databricks App">    </p:cNvPr>
          <p:cNvPicPr>
            <a:picLocks noChangeAspect="1"/>
          </p:cNvPicPr>
          <p:nvPr/>
        </p:nvPicPr>
        <p:blipFill>
          <a:blip r:embed="rId3"/>
          <a:stretch>
            <a:fillRect/>
          </a:stretch>
        </p:blipFill>
        <p:spPr>
          <a:xfrm>
            <a:off x="8257032" y="1280160"/>
            <a:ext cx="201168" cy="201168"/>
          </a:xfrm>
          <a:prstGeom prst="rect">
            <a:avLst/>
          </a:prstGeom>
        </p:spPr>
      </p:pic>
      <p:sp>
        <p:nvSpPr>
          <p:cNvPr id="16" name="Text 11"/>
          <p:cNvSpPr txBox="1"/>
          <p:nvPr/>
        </p:nvSpPr>
        <p:spPr>
          <a:xfrm>
            <a:off x="8668512" y="1097280"/>
            <a:ext cx="2834640" cy="566928"/>
          </a:xfrm>
          <a:prstGeom prst="rect">
            <a:avLst/>
          </a:prstGeom>
          <a:noFill/>
          <a:ln/>
        </p:spPr>
        <p:txBody>
          <a:bodyPr wrap="square" lIns="0" tIns="0" rIns="0" bIns="0" rtlCol="0" anchor="ctr"/>
          <a:lstStyle/>
          <a:p>
            <a:pPr indent="0" marL="0">
              <a:buNone/>
            </a:pPr>
            <a:r>
              <a:rPr lang="en-US" sz="1400" b="1" dirty="0">
                <a:solidFill>
                  <a:schemeClr val="tx1"/>
                </a:solidFill>
              </a:rPr>
              <a:t>Notebook or Databricks App</a:t>
            </a:r>
            <a:endParaRPr lang="en-US" sz="1400" dirty="0"/>
          </a:p>
        </p:txBody>
      </p:sp>
      <p:sp>
        <p:nvSpPr>
          <p:cNvPr id="17" name="Trigger arrow 3"/>
          <p:cNvSpPr/>
          <p:nvPr/>
        </p:nvSpPr>
        <p:spPr>
          <a:xfrm>
            <a:off x="9829800" y="1682496"/>
            <a:ext cx="0" cy="164592"/>
          </a:xfrm>
          <a:prstGeom prst="line">
            <a:avLst/>
          </a:prstGeom>
          <a:noFill/>
          <a:ln w="28575">
            <a:solidFill>
              <a:schemeClr val="accent1"/>
            </a:solidFill>
            <a:prstDash val="solid"/>
            <a:tailEnd type="triangle"/>
          </a:ln>
        </p:spPr>
      </p:sp>
      <p:sp>
        <p:nvSpPr>
          <p:cNvPr id="18" name="Skill library"/>
          <p:cNvSpPr/>
          <p:nvPr/>
        </p:nvSpPr>
        <p:spPr>
          <a:xfrm>
            <a:off x="548640" y="1865376"/>
            <a:ext cx="11064240" cy="822960"/>
          </a:xfrm>
          <a:prstGeom prst="roundRect">
            <a:avLst>
              <a:gd name="adj" fmla="val 8889"/>
            </a:avLst>
          </a:prstGeom>
          <a:solidFill>
            <a:schemeClr val="accent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19" name="Text 14"/>
          <p:cNvSpPr txBox="1"/>
          <p:nvPr/>
        </p:nvSpPr>
        <p:spPr>
          <a:xfrm>
            <a:off x="777240" y="1938528"/>
            <a:ext cx="10607040" cy="292608"/>
          </a:xfrm>
          <a:prstGeom prst="rect">
            <a:avLst/>
          </a:prstGeom>
          <a:noFill/>
          <a:ln/>
        </p:spPr>
        <p:txBody>
          <a:bodyPr wrap="square" lIns="0" tIns="0" rIns="0" bIns="0" rtlCol="0" anchor="t"/>
          <a:lstStyle/>
          <a:p>
            <a:pPr indent="0" marL="0">
              <a:buNone/>
            </a:pPr>
            <a:r>
              <a:rPr lang="en-US" sz="1400" b="1" dirty="0">
                <a:solidFill>
                  <a:schemeClr val="bg1"/>
                </a:solidFill>
              </a:rPr>
              <a:t>Skill library - every prompt is versioned code (skills/*/SKILL.md), rendered with includes + validated inputs, audited per run</a:t>
            </a:r>
            <a:endParaRPr lang="en-US" sz="1400" dirty="0"/>
          </a:p>
        </p:txBody>
      </p:sp>
      <p:sp>
        <p:nvSpPr>
          <p:cNvPr id="20" name="Text 15"/>
          <p:cNvSpPr txBox="1"/>
          <p:nvPr/>
        </p:nvSpPr>
        <p:spPr>
          <a:xfrm>
            <a:off x="777240" y="2286000"/>
            <a:ext cx="10607040" cy="274320"/>
          </a:xfrm>
          <a:prstGeom prst="rect">
            <a:avLst/>
          </a:prstGeom>
          <a:noFill/>
          <a:ln/>
        </p:spPr>
        <p:txBody>
          <a:bodyPr wrap="square" lIns="0" tIns="0" rIns="0" bIns="0" rtlCol="0" anchor="t"/>
          <a:lstStyle/>
          <a:p>
            <a:pPr indent="0" marL="0">
              <a:buNone/>
            </a:pPr>
            <a:r>
              <a:rPr lang="en-US" sz="1200" dirty="0">
                <a:solidFill>
                  <a:schemeClr val="bg2"/>
                </a:solidFill>
              </a:rPr>
              <a:t>domain-healthcare-claims   |   analyze-sql-change   |   rule-to-validation-sql   |   edge-case-tests   |   classify-failures   |   genie-space-instructions</a:t>
            </a:r>
            <a:endParaRPr lang="en-US" sz="1200" dirty="0"/>
          </a:p>
        </p:txBody>
      </p:sp>
      <p:sp>
        <p:nvSpPr>
          <p:cNvPr id="21" name="Stage Analyze"/>
          <p:cNvSpPr/>
          <p:nvPr/>
        </p:nvSpPr>
        <p:spPr>
          <a:xfrm>
            <a:off x="548640" y="2971800"/>
            <a:ext cx="2011680" cy="2011680"/>
          </a:xfrm>
          <a:prstGeom prst="roundRect">
            <a:avLst>
              <a:gd name="adj" fmla="val 3636"/>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22" name="Analyze badge"/>
          <p:cNvSpPr/>
          <p:nvPr/>
        </p:nvSpPr>
        <p:spPr>
          <a:xfrm>
            <a:off x="676656" y="3099816"/>
            <a:ext cx="420624" cy="420624"/>
          </a:xfrm>
          <a:prstGeom prst="ellipse">
            <a:avLst/>
          </a:prstGeom>
          <a:solidFill>
            <a:schemeClr val="accent1"/>
          </a:solidFill>
          <a:ln w="12700">
            <a:solidFill>
              <a:schemeClr val="accent1"/>
            </a:solidFill>
            <a:prstDash val="solid"/>
          </a:ln>
        </p:spPr>
      </p:sp>
      <p:pic>
        <p:nvPicPr>
          <p:cNvPr id="23" name="Analyze icon" descr="Analyze">    </p:cNvPr>
          <p:cNvPicPr>
            <a:picLocks noChangeAspect="1"/>
          </p:cNvPicPr>
          <p:nvPr/>
        </p:nvPicPr>
        <p:blipFill>
          <a:blip r:embed="rId4"/>
          <a:stretch>
            <a:fillRect/>
          </a:stretch>
        </p:blipFill>
        <p:spPr>
          <a:xfrm>
            <a:off x="781812" y="3204972"/>
            <a:ext cx="210312" cy="210312"/>
          </a:xfrm>
          <a:prstGeom prst="rect">
            <a:avLst/>
          </a:prstGeom>
        </p:spPr>
      </p:pic>
      <p:sp>
        <p:nvSpPr>
          <p:cNvPr id="24" name="Text 18"/>
          <p:cNvSpPr txBox="1"/>
          <p:nvPr/>
        </p:nvSpPr>
        <p:spPr>
          <a:xfrm>
            <a:off x="1188720" y="3099816"/>
            <a:ext cx="1280160" cy="420624"/>
          </a:xfrm>
          <a:prstGeom prst="rect">
            <a:avLst/>
          </a:prstGeom>
          <a:noFill/>
          <a:ln/>
        </p:spPr>
        <p:txBody>
          <a:bodyPr wrap="square" lIns="0" tIns="0" rIns="0" bIns="0" rtlCol="0" anchor="ctr"/>
          <a:lstStyle/>
          <a:p>
            <a:pPr indent="0" marL="0">
              <a:buNone/>
            </a:pPr>
            <a:r>
              <a:rPr lang="en-US" sz="1400" b="1" dirty="0">
                <a:solidFill>
                  <a:schemeClr val="tx1"/>
                </a:solidFill>
              </a:rPr>
              <a:t>Analyze</a:t>
            </a:r>
            <a:endParaRPr lang="en-US" sz="1400" dirty="0"/>
          </a:p>
        </p:txBody>
      </p:sp>
      <p:sp>
        <p:nvSpPr>
          <p:cNvPr id="25" name="Pill Analyze"/>
          <p:cNvSpPr/>
          <p:nvPr/>
        </p:nvSpPr>
        <p:spPr>
          <a:xfrm>
            <a:off x="676656" y="3611880"/>
            <a:ext cx="1755648" cy="237744"/>
          </a:xfrm>
          <a:prstGeom prst="roundRect">
            <a:avLst>
              <a:gd name="adj" fmla="val 23077"/>
            </a:avLst>
          </a:prstGeom>
          <a:solidFill>
            <a:schemeClr val="bg2"/>
          </a:solidFill>
          <a:ln w="12700">
            <a:solidFill>
              <a:schemeClr val="bg2"/>
            </a:solidFill>
            <a:prstDash val="solid"/>
          </a:ln>
        </p:spPr>
      </p:sp>
      <p:sp>
        <p:nvSpPr>
          <p:cNvPr id="26" name="Text 20"/>
          <p:cNvSpPr txBox="1"/>
          <p:nvPr/>
        </p:nvSpPr>
        <p:spPr>
          <a:xfrm>
            <a:off x="676656" y="3611880"/>
            <a:ext cx="1755648" cy="237744"/>
          </a:xfrm>
          <a:prstGeom prst="rect">
            <a:avLst/>
          </a:prstGeom>
          <a:noFill/>
          <a:ln/>
        </p:spPr>
        <p:txBody>
          <a:bodyPr wrap="square" lIns="0" tIns="0" rIns="0" bIns="0" rtlCol="0" anchor="ctr"/>
          <a:lstStyle/>
          <a:p>
            <a:pPr algn="ctr" indent="0" marL="0">
              <a:buNone/>
            </a:pPr>
            <a:r>
              <a:rPr lang="en-US" sz="1000" b="1" dirty="0">
                <a:solidFill>
                  <a:schemeClr val="accent1"/>
                </a:solidFill>
              </a:rPr>
              <a:t>Genie &gt; LLM</a:t>
            </a:r>
            <a:endParaRPr lang="en-US" sz="1000" dirty="0"/>
          </a:p>
        </p:txBody>
      </p:sp>
      <p:sp>
        <p:nvSpPr>
          <p:cNvPr id="27" name="Text 21"/>
          <p:cNvSpPr txBox="1"/>
          <p:nvPr/>
        </p:nvSpPr>
        <p:spPr>
          <a:xfrm>
            <a:off x="676656" y="3931920"/>
            <a:ext cx="1773936" cy="9601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sqlglot parse + structural diff</a:t>
            </a:r>
            <a:endParaRPr lang="en-US" sz="1050" dirty="0"/>
          </a:p>
          <a:p>
            <a:pPr marL="342900" indent="-342900">
              <a:spcAft>
                <a:spcPts val="200"/>
              </a:spcAft>
              <a:buSzPct val="100000"/>
              <a:buChar char="•"/>
            </a:pPr>
            <a:r>
              <a:rPr lang="en-US" sz="1050" dirty="0">
                <a:solidFill>
                  <a:schemeClr val="tx1"/>
                </a:solidFill>
              </a:rPr>
              <a:t>Unity Catalog lineage impact</a:t>
            </a:r>
            <a:endParaRPr lang="en-US" sz="1050" dirty="0"/>
          </a:p>
          <a:p>
            <a:pPr marL="342900" indent="-342900">
              <a:spcAft>
                <a:spcPts val="200"/>
              </a:spcAft>
              <a:buSzPct val="100000"/>
              <a:buChar char="•"/>
            </a:pPr>
            <a:r>
              <a:rPr lang="en-US" sz="1050" dirty="0">
                <a:solidFill>
                  <a:schemeClr val="tx1"/>
                </a:solidFill>
              </a:rPr>
              <a:t>Business rules extracted</a:t>
            </a:r>
            <a:endParaRPr lang="en-US" sz="1050" dirty="0"/>
          </a:p>
        </p:txBody>
      </p:sp>
      <p:sp>
        <p:nvSpPr>
          <p:cNvPr id="28" name="Flow arrow 1"/>
          <p:cNvSpPr/>
          <p:nvPr/>
        </p:nvSpPr>
        <p:spPr>
          <a:xfrm>
            <a:off x="2578608" y="3977640"/>
            <a:ext cx="214884" cy="0"/>
          </a:xfrm>
          <a:prstGeom prst="line">
            <a:avLst/>
          </a:prstGeom>
          <a:noFill/>
          <a:ln w="28575">
            <a:solidFill>
              <a:schemeClr val="accent1"/>
            </a:solidFill>
            <a:prstDash val="solid"/>
            <a:tailEnd type="triangle"/>
          </a:ln>
        </p:spPr>
      </p:sp>
      <p:sp>
        <p:nvSpPr>
          <p:cNvPr id="29" name="Stage Generate tests"/>
          <p:cNvSpPr/>
          <p:nvPr/>
        </p:nvSpPr>
        <p:spPr>
          <a:xfrm>
            <a:off x="2811780" y="2971800"/>
            <a:ext cx="2011680" cy="2011680"/>
          </a:xfrm>
          <a:prstGeom prst="roundRect">
            <a:avLst>
              <a:gd name="adj" fmla="val 3636"/>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30" name="Generate tests badge"/>
          <p:cNvSpPr/>
          <p:nvPr/>
        </p:nvSpPr>
        <p:spPr>
          <a:xfrm>
            <a:off x="2939796" y="3099816"/>
            <a:ext cx="420624" cy="420624"/>
          </a:xfrm>
          <a:prstGeom prst="ellipse">
            <a:avLst/>
          </a:prstGeom>
          <a:solidFill>
            <a:schemeClr val="accent1"/>
          </a:solidFill>
          <a:ln w="12700">
            <a:solidFill>
              <a:schemeClr val="accent1"/>
            </a:solidFill>
            <a:prstDash val="solid"/>
          </a:ln>
        </p:spPr>
      </p:sp>
      <p:pic>
        <p:nvPicPr>
          <p:cNvPr id="31" name="Generate tests icon" descr="Generate tests">    </p:cNvPr>
          <p:cNvPicPr>
            <a:picLocks noChangeAspect="1"/>
          </p:cNvPicPr>
          <p:nvPr/>
        </p:nvPicPr>
        <p:blipFill>
          <a:blip r:embed="rId5"/>
          <a:stretch>
            <a:fillRect/>
          </a:stretch>
        </p:blipFill>
        <p:spPr>
          <a:xfrm>
            <a:off x="3044952" y="3204972"/>
            <a:ext cx="210312" cy="210312"/>
          </a:xfrm>
          <a:prstGeom prst="rect">
            <a:avLst/>
          </a:prstGeom>
        </p:spPr>
      </p:pic>
      <p:sp>
        <p:nvSpPr>
          <p:cNvPr id="32" name="Text 25"/>
          <p:cNvSpPr txBox="1"/>
          <p:nvPr/>
        </p:nvSpPr>
        <p:spPr>
          <a:xfrm>
            <a:off x="3451860" y="3099816"/>
            <a:ext cx="1280160" cy="420624"/>
          </a:xfrm>
          <a:prstGeom prst="rect">
            <a:avLst/>
          </a:prstGeom>
          <a:noFill/>
          <a:ln/>
        </p:spPr>
        <p:txBody>
          <a:bodyPr wrap="square" lIns="0" tIns="0" rIns="0" bIns="0" rtlCol="0" anchor="ctr"/>
          <a:lstStyle/>
          <a:p>
            <a:pPr indent="0" marL="0">
              <a:buNone/>
            </a:pPr>
            <a:r>
              <a:rPr lang="en-US" sz="1400" b="1" dirty="0">
                <a:solidFill>
                  <a:schemeClr val="tx1"/>
                </a:solidFill>
              </a:rPr>
              <a:t>Generate tests</a:t>
            </a:r>
            <a:endParaRPr lang="en-US" sz="1400" dirty="0"/>
          </a:p>
        </p:txBody>
      </p:sp>
      <p:sp>
        <p:nvSpPr>
          <p:cNvPr id="33" name="Pill Generate tests"/>
          <p:cNvSpPr/>
          <p:nvPr/>
        </p:nvSpPr>
        <p:spPr>
          <a:xfrm>
            <a:off x="2939796" y="3611880"/>
            <a:ext cx="1755648" cy="237744"/>
          </a:xfrm>
          <a:prstGeom prst="roundRect">
            <a:avLst>
              <a:gd name="adj" fmla="val 23077"/>
            </a:avLst>
          </a:prstGeom>
          <a:solidFill>
            <a:schemeClr val="bg2"/>
          </a:solidFill>
          <a:ln w="12700">
            <a:solidFill>
              <a:schemeClr val="bg2"/>
            </a:solidFill>
            <a:prstDash val="solid"/>
          </a:ln>
        </p:spPr>
      </p:sp>
      <p:sp>
        <p:nvSpPr>
          <p:cNvPr id="34" name="Text 27"/>
          <p:cNvSpPr txBox="1"/>
          <p:nvPr/>
        </p:nvSpPr>
        <p:spPr>
          <a:xfrm>
            <a:off x="2939796" y="3611880"/>
            <a:ext cx="1755648" cy="237744"/>
          </a:xfrm>
          <a:prstGeom prst="rect">
            <a:avLst/>
          </a:prstGeom>
          <a:noFill/>
          <a:ln/>
        </p:spPr>
        <p:txBody>
          <a:bodyPr wrap="square" lIns="0" tIns="0" rIns="0" bIns="0" rtlCol="0" anchor="ctr"/>
          <a:lstStyle/>
          <a:p>
            <a:pPr algn="ctr" indent="0" marL="0">
              <a:buNone/>
            </a:pPr>
            <a:r>
              <a:rPr lang="en-US" sz="1000" b="1" dirty="0">
                <a:solidFill>
                  <a:schemeClr val="accent1"/>
                </a:solidFill>
              </a:rPr>
              <a:t>Genie + LLM</a:t>
            </a:r>
            <a:endParaRPr lang="en-US" sz="1000" dirty="0"/>
          </a:p>
        </p:txBody>
      </p:sp>
      <p:sp>
        <p:nvSpPr>
          <p:cNvPr id="35" name="Text 28"/>
          <p:cNvSpPr txBox="1"/>
          <p:nvPr/>
        </p:nvSpPr>
        <p:spPr>
          <a:xfrm>
            <a:off x="2939796" y="3931920"/>
            <a:ext cx="1773936" cy="9601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Built-in: schema, volume, keys, diff</a:t>
            </a:r>
            <a:endParaRPr lang="en-US" sz="1050" dirty="0"/>
          </a:p>
          <a:p>
            <a:pPr marL="342900" indent="-342900">
              <a:spcAft>
                <a:spcPts val="200"/>
              </a:spcAft>
              <a:buSzPct val="100000"/>
              <a:buChar char="•"/>
            </a:pPr>
            <a:r>
              <a:rPr lang="en-US" sz="1050" dirty="0">
                <a:solidFill>
                  <a:schemeClr val="tx1"/>
                </a:solidFill>
              </a:rPr>
              <a:t>Genie: each rule becomes validation SQL</a:t>
            </a:r>
            <a:endParaRPr lang="en-US" sz="1050" dirty="0"/>
          </a:p>
          <a:p>
            <a:pPr marL="342900" indent="-342900">
              <a:spcAft>
                <a:spcPts val="200"/>
              </a:spcAft>
              <a:buSzPct val="100000"/>
              <a:buChar char="•"/>
            </a:pPr>
            <a:r>
              <a:rPr lang="en-US" sz="1050" dirty="0">
                <a:solidFill>
                  <a:schemeClr val="tx1"/>
                </a:solidFill>
              </a:rPr>
              <a:t>LLM edge cases</a:t>
            </a:r>
            <a:endParaRPr lang="en-US" sz="1050" dirty="0"/>
          </a:p>
        </p:txBody>
      </p:sp>
      <p:sp>
        <p:nvSpPr>
          <p:cNvPr id="36" name="Flow arrow 2"/>
          <p:cNvSpPr/>
          <p:nvPr/>
        </p:nvSpPr>
        <p:spPr>
          <a:xfrm>
            <a:off x="4841748" y="3977640"/>
            <a:ext cx="214884" cy="0"/>
          </a:xfrm>
          <a:prstGeom prst="line">
            <a:avLst/>
          </a:prstGeom>
          <a:noFill/>
          <a:ln w="28575">
            <a:solidFill>
              <a:schemeClr val="accent1"/>
            </a:solidFill>
            <a:prstDash val="solid"/>
            <a:tailEnd type="triangle"/>
          </a:ln>
        </p:spPr>
      </p:sp>
      <p:sp>
        <p:nvSpPr>
          <p:cNvPr id="37" name="Stage Execute"/>
          <p:cNvSpPr/>
          <p:nvPr/>
        </p:nvSpPr>
        <p:spPr>
          <a:xfrm>
            <a:off x="5074920" y="2971800"/>
            <a:ext cx="2011680" cy="2011680"/>
          </a:xfrm>
          <a:prstGeom prst="roundRect">
            <a:avLst>
              <a:gd name="adj" fmla="val 3636"/>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38" name="Execute badge"/>
          <p:cNvSpPr/>
          <p:nvPr/>
        </p:nvSpPr>
        <p:spPr>
          <a:xfrm>
            <a:off x="5202936" y="3099816"/>
            <a:ext cx="420624" cy="420624"/>
          </a:xfrm>
          <a:prstGeom prst="ellipse">
            <a:avLst/>
          </a:prstGeom>
          <a:solidFill>
            <a:schemeClr val="accent1"/>
          </a:solidFill>
          <a:ln w="12700">
            <a:solidFill>
              <a:schemeClr val="accent1"/>
            </a:solidFill>
            <a:prstDash val="solid"/>
          </a:ln>
        </p:spPr>
      </p:sp>
      <p:pic>
        <p:nvPicPr>
          <p:cNvPr id="39" name="Execute icon" descr="Execute">    </p:cNvPr>
          <p:cNvPicPr>
            <a:picLocks noChangeAspect="1"/>
          </p:cNvPicPr>
          <p:nvPr/>
        </p:nvPicPr>
        <p:blipFill>
          <a:blip r:embed="rId6"/>
          <a:stretch>
            <a:fillRect/>
          </a:stretch>
        </p:blipFill>
        <p:spPr>
          <a:xfrm>
            <a:off x="5308092" y="3204972"/>
            <a:ext cx="210312" cy="210312"/>
          </a:xfrm>
          <a:prstGeom prst="rect">
            <a:avLst/>
          </a:prstGeom>
        </p:spPr>
      </p:pic>
      <p:sp>
        <p:nvSpPr>
          <p:cNvPr id="40" name="Text 32"/>
          <p:cNvSpPr txBox="1"/>
          <p:nvPr/>
        </p:nvSpPr>
        <p:spPr>
          <a:xfrm>
            <a:off x="5715000" y="3099816"/>
            <a:ext cx="1280160" cy="420624"/>
          </a:xfrm>
          <a:prstGeom prst="rect">
            <a:avLst/>
          </a:prstGeom>
          <a:noFill/>
          <a:ln/>
        </p:spPr>
        <p:txBody>
          <a:bodyPr wrap="square" lIns="0" tIns="0" rIns="0" bIns="0" rtlCol="0" anchor="ctr"/>
          <a:lstStyle/>
          <a:p>
            <a:pPr indent="0" marL="0">
              <a:buNone/>
            </a:pPr>
            <a:r>
              <a:rPr lang="en-US" sz="1400" b="1" dirty="0">
                <a:solidFill>
                  <a:schemeClr val="tx1"/>
                </a:solidFill>
              </a:rPr>
              <a:t>Execute</a:t>
            </a:r>
            <a:endParaRPr lang="en-US" sz="1400" dirty="0"/>
          </a:p>
        </p:txBody>
      </p:sp>
      <p:sp>
        <p:nvSpPr>
          <p:cNvPr id="41" name="Pill Execute"/>
          <p:cNvSpPr/>
          <p:nvPr/>
        </p:nvSpPr>
        <p:spPr>
          <a:xfrm>
            <a:off x="5202936" y="3611880"/>
            <a:ext cx="1755648" cy="237744"/>
          </a:xfrm>
          <a:prstGeom prst="roundRect">
            <a:avLst>
              <a:gd name="adj" fmla="val 23077"/>
            </a:avLst>
          </a:prstGeom>
          <a:solidFill>
            <a:schemeClr val="bg2"/>
          </a:solidFill>
          <a:ln w="12700">
            <a:solidFill>
              <a:schemeClr val="bg2"/>
            </a:solidFill>
            <a:prstDash val="solid"/>
          </a:ln>
        </p:spPr>
      </p:sp>
      <p:sp>
        <p:nvSpPr>
          <p:cNvPr id="42" name="Text 34"/>
          <p:cNvSpPr txBox="1"/>
          <p:nvPr/>
        </p:nvSpPr>
        <p:spPr>
          <a:xfrm>
            <a:off x="5202936" y="3611880"/>
            <a:ext cx="1755648" cy="237744"/>
          </a:xfrm>
          <a:prstGeom prst="rect">
            <a:avLst/>
          </a:prstGeom>
          <a:noFill/>
          <a:ln/>
        </p:spPr>
        <p:txBody>
          <a:bodyPr wrap="square" lIns="0" tIns="0" rIns="0" bIns="0" rtlCol="0" anchor="ctr"/>
          <a:lstStyle/>
          <a:p>
            <a:pPr algn="ctr" indent="0" marL="0">
              <a:buNone/>
            </a:pPr>
            <a:r>
              <a:rPr lang="en-US" sz="1000" b="1" dirty="0">
                <a:solidFill>
                  <a:schemeClr val="accent1"/>
                </a:solidFill>
              </a:rPr>
              <a:t>Deterministic</a:t>
            </a:r>
            <a:endParaRPr lang="en-US" sz="1000" dirty="0"/>
          </a:p>
        </p:txBody>
      </p:sp>
      <p:sp>
        <p:nvSpPr>
          <p:cNvPr id="43" name="Text 35"/>
          <p:cNvSpPr txBox="1"/>
          <p:nvPr/>
        </p:nvSpPr>
        <p:spPr>
          <a:xfrm>
            <a:off x="5202936" y="3931920"/>
            <a:ext cx="1773936" cy="9601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Baseline vs candidate in sandbox</a:t>
            </a:r>
            <a:endParaRPr lang="en-US" sz="1050" dirty="0"/>
          </a:p>
          <a:p>
            <a:pPr marL="342900" indent="-342900">
              <a:spcAft>
                <a:spcPts val="200"/>
              </a:spcAft>
              <a:buSzPct val="100000"/>
              <a:buChar char="•"/>
            </a:pPr>
            <a:r>
              <a:rPr lang="en-US" sz="1050" dirty="0">
                <a:solidFill>
                  <a:schemeClr val="tx1"/>
                </a:solidFill>
              </a:rPr>
              <a:t>Tests run in parallel on SQL warehouse</a:t>
            </a:r>
            <a:endParaRPr lang="en-US" sz="1050" dirty="0"/>
          </a:p>
          <a:p>
            <a:pPr marL="342900" indent="-342900">
              <a:spcAft>
                <a:spcPts val="200"/>
              </a:spcAft>
              <a:buSzPct val="100000"/>
              <a:buChar char="•"/>
            </a:pPr>
            <a:r>
              <a:rPr lang="en-US" sz="1050" dirty="0">
                <a:solidFill>
                  <a:schemeClr val="tx1"/>
                </a:solidFill>
              </a:rPr>
              <a:t>Production stays read-only</a:t>
            </a:r>
            <a:endParaRPr lang="en-US" sz="1050" dirty="0"/>
          </a:p>
        </p:txBody>
      </p:sp>
      <p:sp>
        <p:nvSpPr>
          <p:cNvPr id="44" name="Flow arrow 3"/>
          <p:cNvSpPr/>
          <p:nvPr/>
        </p:nvSpPr>
        <p:spPr>
          <a:xfrm>
            <a:off x="7104888" y="3977640"/>
            <a:ext cx="214884" cy="0"/>
          </a:xfrm>
          <a:prstGeom prst="line">
            <a:avLst/>
          </a:prstGeom>
          <a:noFill/>
          <a:ln w="28575">
            <a:solidFill>
              <a:schemeClr val="accent1"/>
            </a:solidFill>
            <a:prstDash val="solid"/>
            <a:tailEnd type="triangle"/>
          </a:ln>
        </p:spPr>
      </p:sp>
      <p:sp>
        <p:nvSpPr>
          <p:cNvPr id="45" name="Stage Evaluate"/>
          <p:cNvSpPr/>
          <p:nvPr/>
        </p:nvSpPr>
        <p:spPr>
          <a:xfrm>
            <a:off x="7338060" y="2971800"/>
            <a:ext cx="2011680" cy="2011680"/>
          </a:xfrm>
          <a:prstGeom prst="roundRect">
            <a:avLst>
              <a:gd name="adj" fmla="val 3636"/>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46" name="Evaluate badge"/>
          <p:cNvSpPr/>
          <p:nvPr/>
        </p:nvSpPr>
        <p:spPr>
          <a:xfrm>
            <a:off x="7466076" y="3099816"/>
            <a:ext cx="420624" cy="420624"/>
          </a:xfrm>
          <a:prstGeom prst="ellipse">
            <a:avLst/>
          </a:prstGeom>
          <a:solidFill>
            <a:schemeClr val="accent1"/>
          </a:solidFill>
          <a:ln w="12700">
            <a:solidFill>
              <a:schemeClr val="accent1"/>
            </a:solidFill>
            <a:prstDash val="solid"/>
          </a:ln>
        </p:spPr>
      </p:sp>
      <p:pic>
        <p:nvPicPr>
          <p:cNvPr id="47" name="Evaluate icon" descr="Evaluate">    </p:cNvPr>
          <p:cNvPicPr>
            <a:picLocks noChangeAspect="1"/>
          </p:cNvPicPr>
          <p:nvPr/>
        </p:nvPicPr>
        <p:blipFill>
          <a:blip r:embed="rId7"/>
          <a:stretch>
            <a:fillRect/>
          </a:stretch>
        </p:blipFill>
        <p:spPr>
          <a:xfrm>
            <a:off x="7571232" y="3204972"/>
            <a:ext cx="210312" cy="210312"/>
          </a:xfrm>
          <a:prstGeom prst="rect">
            <a:avLst/>
          </a:prstGeom>
        </p:spPr>
      </p:pic>
      <p:sp>
        <p:nvSpPr>
          <p:cNvPr id="48" name="Text 39"/>
          <p:cNvSpPr txBox="1"/>
          <p:nvPr/>
        </p:nvSpPr>
        <p:spPr>
          <a:xfrm>
            <a:off x="7978140" y="3099816"/>
            <a:ext cx="1280160" cy="420624"/>
          </a:xfrm>
          <a:prstGeom prst="rect">
            <a:avLst/>
          </a:prstGeom>
          <a:noFill/>
          <a:ln/>
        </p:spPr>
        <p:txBody>
          <a:bodyPr wrap="square" lIns="0" tIns="0" rIns="0" bIns="0" rtlCol="0" anchor="ctr"/>
          <a:lstStyle/>
          <a:p>
            <a:pPr indent="0" marL="0">
              <a:buNone/>
            </a:pPr>
            <a:r>
              <a:rPr lang="en-US" sz="1400" b="1" dirty="0">
                <a:solidFill>
                  <a:schemeClr val="tx1"/>
                </a:solidFill>
              </a:rPr>
              <a:t>Evaluate</a:t>
            </a:r>
            <a:endParaRPr lang="en-US" sz="1400" dirty="0"/>
          </a:p>
        </p:txBody>
      </p:sp>
      <p:sp>
        <p:nvSpPr>
          <p:cNvPr id="49" name="Pill Evaluate"/>
          <p:cNvSpPr/>
          <p:nvPr/>
        </p:nvSpPr>
        <p:spPr>
          <a:xfrm>
            <a:off x="7466076" y="3611880"/>
            <a:ext cx="1755648" cy="237744"/>
          </a:xfrm>
          <a:prstGeom prst="roundRect">
            <a:avLst>
              <a:gd name="adj" fmla="val 23077"/>
            </a:avLst>
          </a:prstGeom>
          <a:solidFill>
            <a:schemeClr val="bg2"/>
          </a:solidFill>
          <a:ln w="12700">
            <a:solidFill>
              <a:schemeClr val="bg2"/>
            </a:solidFill>
            <a:prstDash val="solid"/>
          </a:ln>
        </p:spPr>
      </p:sp>
      <p:sp>
        <p:nvSpPr>
          <p:cNvPr id="50" name="Text 41"/>
          <p:cNvSpPr txBox="1"/>
          <p:nvPr/>
        </p:nvSpPr>
        <p:spPr>
          <a:xfrm>
            <a:off x="7466076" y="3611880"/>
            <a:ext cx="1755648" cy="237744"/>
          </a:xfrm>
          <a:prstGeom prst="rect">
            <a:avLst/>
          </a:prstGeom>
          <a:noFill/>
          <a:ln/>
        </p:spPr>
        <p:txBody>
          <a:bodyPr wrap="square" lIns="0" tIns="0" rIns="0" bIns="0" rtlCol="0" anchor="ctr"/>
          <a:lstStyle/>
          <a:p>
            <a:pPr algn="ctr" indent="0" marL="0">
              <a:buNone/>
            </a:pPr>
            <a:r>
              <a:rPr lang="en-US" sz="1000" b="1" dirty="0">
                <a:solidFill>
                  <a:schemeClr val="accent1"/>
                </a:solidFill>
              </a:rPr>
              <a:t>LLM + formula</a:t>
            </a:r>
            <a:endParaRPr lang="en-US" sz="1000" dirty="0"/>
          </a:p>
        </p:txBody>
      </p:sp>
      <p:sp>
        <p:nvSpPr>
          <p:cNvPr id="51" name="Text 42"/>
          <p:cNvSpPr txBox="1"/>
          <p:nvPr/>
        </p:nvSpPr>
        <p:spPr>
          <a:xfrm>
            <a:off x="7466076" y="3931920"/>
            <a:ext cx="1773936" cy="9601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Expected change, regression or data issue</a:t>
            </a:r>
            <a:endParaRPr lang="en-US" sz="1050" dirty="0"/>
          </a:p>
          <a:p>
            <a:pPr marL="342900" indent="-342900">
              <a:spcAft>
                <a:spcPts val="200"/>
              </a:spcAft>
              <a:buSzPct val="100000"/>
              <a:buChar char="•"/>
            </a:pPr>
            <a:r>
              <a:rPr lang="en-US" sz="1050" dirty="0">
                <a:solidFill>
                  <a:schemeClr val="tx1"/>
                </a:solidFill>
              </a:rPr>
              <a:t>Trust Score 0-100</a:t>
            </a:r>
            <a:endParaRPr lang="en-US" sz="1050" dirty="0"/>
          </a:p>
          <a:p>
            <a:pPr marL="342900" indent="-342900">
              <a:spcAft>
                <a:spcPts val="200"/>
              </a:spcAft>
              <a:buSzPct val="100000"/>
              <a:buChar char="•"/>
            </a:pPr>
            <a:r>
              <a:rPr lang="en-US" sz="1050" dirty="0">
                <a:solidFill>
                  <a:schemeClr val="tx1"/>
                </a:solidFill>
              </a:rPr>
              <a:t>SAFE, REVIEW or BLOCK</a:t>
            </a:r>
            <a:endParaRPr lang="en-US" sz="1050" dirty="0"/>
          </a:p>
        </p:txBody>
      </p:sp>
      <p:sp>
        <p:nvSpPr>
          <p:cNvPr id="52" name="Flow arrow 4"/>
          <p:cNvSpPr/>
          <p:nvPr/>
        </p:nvSpPr>
        <p:spPr>
          <a:xfrm>
            <a:off x="9368028" y="3977640"/>
            <a:ext cx="214884" cy="0"/>
          </a:xfrm>
          <a:prstGeom prst="line">
            <a:avLst/>
          </a:prstGeom>
          <a:noFill/>
          <a:ln w="28575">
            <a:solidFill>
              <a:schemeClr val="accent1"/>
            </a:solidFill>
            <a:prstDash val="solid"/>
            <a:tailEnd type="triangle"/>
          </a:ln>
        </p:spPr>
      </p:sp>
      <p:sp>
        <p:nvSpPr>
          <p:cNvPr id="53" name="Stage Report"/>
          <p:cNvSpPr/>
          <p:nvPr/>
        </p:nvSpPr>
        <p:spPr>
          <a:xfrm>
            <a:off x="9601200" y="2971800"/>
            <a:ext cx="2011680" cy="2011680"/>
          </a:xfrm>
          <a:prstGeom prst="roundRect">
            <a:avLst>
              <a:gd name="adj" fmla="val 3636"/>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54" name="Report badge"/>
          <p:cNvSpPr/>
          <p:nvPr/>
        </p:nvSpPr>
        <p:spPr>
          <a:xfrm>
            <a:off x="9729216" y="3099816"/>
            <a:ext cx="420624" cy="420624"/>
          </a:xfrm>
          <a:prstGeom prst="ellipse">
            <a:avLst/>
          </a:prstGeom>
          <a:solidFill>
            <a:schemeClr val="accent1"/>
          </a:solidFill>
          <a:ln w="12700">
            <a:solidFill>
              <a:schemeClr val="accent1"/>
            </a:solidFill>
            <a:prstDash val="solid"/>
          </a:ln>
        </p:spPr>
      </p:sp>
      <p:pic>
        <p:nvPicPr>
          <p:cNvPr id="55" name="Report icon" descr="Report">    </p:cNvPr>
          <p:cNvPicPr>
            <a:picLocks noChangeAspect="1"/>
          </p:cNvPicPr>
          <p:nvPr/>
        </p:nvPicPr>
        <p:blipFill>
          <a:blip r:embed="rId8"/>
          <a:stretch>
            <a:fillRect/>
          </a:stretch>
        </p:blipFill>
        <p:spPr>
          <a:xfrm>
            <a:off x="9834372" y="3204972"/>
            <a:ext cx="210312" cy="210312"/>
          </a:xfrm>
          <a:prstGeom prst="rect">
            <a:avLst/>
          </a:prstGeom>
        </p:spPr>
      </p:pic>
      <p:sp>
        <p:nvSpPr>
          <p:cNvPr id="56" name="Text 46"/>
          <p:cNvSpPr txBox="1"/>
          <p:nvPr/>
        </p:nvSpPr>
        <p:spPr>
          <a:xfrm>
            <a:off x="10241280" y="3099816"/>
            <a:ext cx="1280160" cy="420624"/>
          </a:xfrm>
          <a:prstGeom prst="rect">
            <a:avLst/>
          </a:prstGeom>
          <a:noFill/>
          <a:ln/>
        </p:spPr>
        <p:txBody>
          <a:bodyPr wrap="square" lIns="0" tIns="0" rIns="0" bIns="0" rtlCol="0" anchor="ctr"/>
          <a:lstStyle/>
          <a:p>
            <a:pPr indent="0" marL="0">
              <a:buNone/>
            </a:pPr>
            <a:r>
              <a:rPr lang="en-US" sz="1400" b="1" dirty="0">
                <a:solidFill>
                  <a:schemeClr val="tx1"/>
                </a:solidFill>
              </a:rPr>
              <a:t>Report</a:t>
            </a:r>
            <a:endParaRPr lang="en-US" sz="1400" dirty="0"/>
          </a:p>
        </p:txBody>
      </p:sp>
      <p:sp>
        <p:nvSpPr>
          <p:cNvPr id="57" name="Pill Report"/>
          <p:cNvSpPr/>
          <p:nvPr/>
        </p:nvSpPr>
        <p:spPr>
          <a:xfrm>
            <a:off x="9729216" y="3611880"/>
            <a:ext cx="1755648" cy="237744"/>
          </a:xfrm>
          <a:prstGeom prst="roundRect">
            <a:avLst>
              <a:gd name="adj" fmla="val 23077"/>
            </a:avLst>
          </a:prstGeom>
          <a:solidFill>
            <a:schemeClr val="bg2"/>
          </a:solidFill>
          <a:ln w="12700">
            <a:solidFill>
              <a:schemeClr val="bg2"/>
            </a:solidFill>
            <a:prstDash val="solid"/>
          </a:ln>
        </p:spPr>
      </p:sp>
      <p:sp>
        <p:nvSpPr>
          <p:cNvPr id="58" name="Text 48"/>
          <p:cNvSpPr txBox="1"/>
          <p:nvPr/>
        </p:nvSpPr>
        <p:spPr>
          <a:xfrm>
            <a:off x="9729216" y="3611880"/>
            <a:ext cx="1755648" cy="237744"/>
          </a:xfrm>
          <a:prstGeom prst="rect">
            <a:avLst/>
          </a:prstGeom>
          <a:noFill/>
          <a:ln/>
        </p:spPr>
        <p:txBody>
          <a:bodyPr wrap="square" lIns="0" tIns="0" rIns="0" bIns="0" rtlCol="0" anchor="ctr"/>
          <a:lstStyle/>
          <a:p>
            <a:pPr algn="ctr" indent="0" marL="0">
              <a:buNone/>
            </a:pPr>
            <a:r>
              <a:rPr lang="en-US" sz="1000" b="1" dirty="0">
                <a:solidFill>
                  <a:schemeClr val="accent1"/>
                </a:solidFill>
              </a:rPr>
              <a:t>Delta + Lakebase</a:t>
            </a:r>
            <a:endParaRPr lang="en-US" sz="1000" dirty="0"/>
          </a:p>
        </p:txBody>
      </p:sp>
      <p:sp>
        <p:nvSpPr>
          <p:cNvPr id="59" name="Text 49"/>
          <p:cNvSpPr txBox="1"/>
          <p:nvPr/>
        </p:nvSpPr>
        <p:spPr>
          <a:xfrm>
            <a:off x="9729216" y="3931920"/>
            <a:ext cx="1773936" cy="9601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rPr>
              <a:t>Run history and prompt audit</a:t>
            </a:r>
            <a:endParaRPr lang="en-US" sz="1050" dirty="0"/>
          </a:p>
          <a:p>
            <a:pPr marL="342900" indent="-342900">
              <a:spcAft>
                <a:spcPts val="200"/>
              </a:spcAft>
              <a:buSzPct val="100000"/>
              <a:buChar char="•"/>
            </a:pPr>
            <a:r>
              <a:rPr lang="en-US" sz="1050" dirty="0">
                <a:solidFill>
                  <a:schemeClr val="tx1"/>
                </a:solidFill>
              </a:rPr>
              <a:t>AI/BI dashboard, Genie chat</a:t>
            </a:r>
            <a:endParaRPr lang="en-US" sz="1050" dirty="0"/>
          </a:p>
          <a:p>
            <a:pPr marL="342900" indent="-342900">
              <a:spcAft>
                <a:spcPts val="200"/>
              </a:spcAft>
              <a:buSzPct val="100000"/>
              <a:buChar char="•"/>
            </a:pPr>
            <a:r>
              <a:rPr lang="en-US" sz="1050" dirty="0">
                <a:solidFill>
                  <a:schemeClr val="tx1"/>
                </a:solidFill>
              </a:rPr>
              <a:t>App view and CI gate</a:t>
            </a:r>
            <a:endParaRPr lang="en-US" sz="1050" dirty="0"/>
          </a:p>
        </p:txBody>
      </p:sp>
      <p:sp>
        <p:nvSpPr>
          <p:cNvPr id="60" name="Skill arrow 1"/>
          <p:cNvSpPr/>
          <p:nvPr/>
        </p:nvSpPr>
        <p:spPr>
          <a:xfrm>
            <a:off x="1554480" y="2706624"/>
            <a:ext cx="0" cy="246888"/>
          </a:xfrm>
          <a:prstGeom prst="line">
            <a:avLst/>
          </a:prstGeom>
          <a:noFill/>
          <a:ln w="28575">
            <a:solidFill>
              <a:schemeClr val="accent3"/>
            </a:solidFill>
            <a:prstDash val="solid"/>
            <a:tailEnd type="triangle"/>
          </a:ln>
        </p:spPr>
      </p:sp>
      <p:sp>
        <p:nvSpPr>
          <p:cNvPr id="61" name="Skill arrow 2"/>
          <p:cNvSpPr/>
          <p:nvPr/>
        </p:nvSpPr>
        <p:spPr>
          <a:xfrm>
            <a:off x="3817620" y="2706624"/>
            <a:ext cx="0" cy="246888"/>
          </a:xfrm>
          <a:prstGeom prst="line">
            <a:avLst/>
          </a:prstGeom>
          <a:noFill/>
          <a:ln w="28575">
            <a:solidFill>
              <a:schemeClr val="accent3"/>
            </a:solidFill>
            <a:prstDash val="solid"/>
            <a:tailEnd type="triangle"/>
          </a:ln>
        </p:spPr>
      </p:sp>
      <p:sp>
        <p:nvSpPr>
          <p:cNvPr id="62" name="Skill arrow 4"/>
          <p:cNvSpPr/>
          <p:nvPr/>
        </p:nvSpPr>
        <p:spPr>
          <a:xfrm>
            <a:off x="8343900" y="2706624"/>
            <a:ext cx="0" cy="246888"/>
          </a:xfrm>
          <a:prstGeom prst="line">
            <a:avLst/>
          </a:prstGeom>
          <a:noFill/>
          <a:ln w="28575">
            <a:solidFill>
              <a:schemeClr val="accent3"/>
            </a:solidFill>
            <a:prstDash val="solid"/>
            <a:tailEnd type="triangle"/>
          </a:ln>
        </p:spPr>
      </p:sp>
      <p:sp>
        <p:nvSpPr>
          <p:cNvPr id="63" name="Text 53"/>
          <p:cNvSpPr txBox="1"/>
          <p:nvPr/>
        </p:nvSpPr>
        <p:spPr>
          <a:xfrm>
            <a:off x="1664208" y="2734056"/>
            <a:ext cx="1645920" cy="228600"/>
          </a:xfrm>
          <a:prstGeom prst="rect">
            <a:avLst/>
          </a:prstGeom>
          <a:noFill/>
          <a:ln/>
        </p:spPr>
        <p:txBody>
          <a:bodyPr wrap="square" lIns="0" tIns="0" rIns="0" bIns="0" rtlCol="0" anchor="t"/>
          <a:lstStyle/>
          <a:p>
            <a:pPr indent="0" marL="0">
              <a:buNone/>
            </a:pPr>
            <a:r>
              <a:rPr lang="en-US" sz="1000" b="1" dirty="0">
                <a:solidFill>
                  <a:schemeClr val="accent3"/>
                </a:solidFill>
              </a:rPr>
              <a:t>Prompts from skills</a:t>
            </a:r>
            <a:endParaRPr lang="en-US" sz="1000" dirty="0"/>
          </a:p>
        </p:txBody>
      </p:sp>
      <p:sp>
        <p:nvSpPr>
          <p:cNvPr id="64" name="Text 54"/>
          <p:cNvSpPr txBox="1"/>
          <p:nvPr/>
        </p:nvSpPr>
        <p:spPr>
          <a:xfrm>
            <a:off x="548640" y="5120640"/>
            <a:ext cx="7315200" cy="228600"/>
          </a:xfrm>
          <a:prstGeom prst="rect">
            <a:avLst/>
          </a:prstGeom>
          <a:noFill/>
          <a:ln/>
        </p:spPr>
        <p:txBody>
          <a:bodyPr wrap="square" lIns="0" tIns="0" rIns="0" bIns="0" rtlCol="0" anchor="t"/>
          <a:lstStyle/>
          <a:p>
            <a:pPr indent="0" marL="0">
              <a:buNone/>
            </a:pPr>
            <a:r>
              <a:rPr lang="en-US" sz="1100" b="1" dirty="0">
                <a:solidFill>
                  <a:schemeClr val="accent6"/>
                </a:solidFill>
              </a:rPr>
              <a:t>Databricks platform services behind every stage</a:t>
            </a:r>
            <a:endParaRPr lang="en-US" sz="1100" dirty="0"/>
          </a:p>
        </p:txBody>
      </p:sp>
      <p:sp>
        <p:nvSpPr>
          <p:cNvPr id="65" name="Service Unity Catalog"/>
          <p:cNvSpPr/>
          <p:nvPr/>
        </p:nvSpPr>
        <p:spPr>
          <a:xfrm>
            <a:off x="548640" y="5394960"/>
            <a:ext cx="2633472" cy="896112"/>
          </a:xfrm>
          <a:prstGeom prst="roundRect">
            <a:avLst>
              <a:gd name="adj" fmla="val 8163"/>
            </a:avLst>
          </a:prstGeom>
          <a:solidFill>
            <a:schemeClr val="tx1"/>
          </a:solidFill>
          <a:ln w="12700">
            <a:solidFill>
              <a:schemeClr val="tx1"/>
            </a:solidFill>
            <a:prstDash val="solid"/>
          </a:ln>
          <a:effectLst>
            <a:outerShdw sx="100000" sy="100000" kx="0" ky="0" algn="bl" rotWithShape="0" blurRad="76200" dist="25400" dir="5400000">
              <a:srgbClr val="0F2A33">
                <a:alpha val="18000"/>
              </a:srgbClr>
            </a:outerShdw>
          </a:effectLst>
        </p:spPr>
      </p:sp>
      <p:sp>
        <p:nvSpPr>
          <p:cNvPr id="66" name="Text 56"/>
          <p:cNvSpPr txBox="1"/>
          <p:nvPr/>
        </p:nvSpPr>
        <p:spPr>
          <a:xfrm>
            <a:off x="685800" y="5458968"/>
            <a:ext cx="2359152" cy="274320"/>
          </a:xfrm>
          <a:prstGeom prst="rect">
            <a:avLst/>
          </a:prstGeom>
          <a:noFill/>
          <a:ln/>
        </p:spPr>
        <p:txBody>
          <a:bodyPr wrap="square" lIns="0" tIns="0" rIns="0" bIns="0" rtlCol="0" anchor="t"/>
          <a:lstStyle/>
          <a:p>
            <a:pPr indent="0" marL="0">
              <a:buNone/>
            </a:pPr>
            <a:r>
              <a:rPr lang="en-US" sz="1400" b="1" dirty="0">
                <a:solidFill>
                  <a:schemeClr val="bg1"/>
                </a:solidFill>
              </a:rPr>
              <a:t>Unity Catalog</a:t>
            </a:r>
            <a:endParaRPr lang="en-US" sz="1400" dirty="0"/>
          </a:p>
        </p:txBody>
      </p:sp>
      <p:sp>
        <p:nvSpPr>
          <p:cNvPr id="67" name="Text 57"/>
          <p:cNvSpPr txBox="1"/>
          <p:nvPr/>
        </p:nvSpPr>
        <p:spPr>
          <a:xfrm>
            <a:off x="685800" y="5742432"/>
            <a:ext cx="2359152" cy="502920"/>
          </a:xfrm>
          <a:prstGeom prst="rect">
            <a:avLst/>
          </a:prstGeom>
          <a:noFill/>
          <a:ln/>
        </p:spPr>
        <p:txBody>
          <a:bodyPr wrap="square" lIns="0" tIns="0" rIns="0" bIns="0" rtlCol="0" anchor="t"/>
          <a:lstStyle/>
          <a:p>
            <a:pPr indent="0" marL="0">
              <a:buNone/>
            </a:pPr>
            <a:r>
              <a:rPr lang="en-US" sz="1200" dirty="0">
                <a:solidFill>
                  <a:schemeClr val="bg2"/>
                </a:solidFill>
              </a:rPr>
              <a:t>Governance, lineage, sandbox isolation</a:t>
            </a:r>
            <a:endParaRPr lang="en-US" sz="1200" dirty="0"/>
          </a:p>
        </p:txBody>
      </p:sp>
      <p:sp>
        <p:nvSpPr>
          <p:cNvPr id="68" name="Service Unity AI Gateway"/>
          <p:cNvSpPr/>
          <p:nvPr/>
        </p:nvSpPr>
        <p:spPr>
          <a:xfrm>
            <a:off x="3358591" y="5394960"/>
            <a:ext cx="2633472" cy="896112"/>
          </a:xfrm>
          <a:prstGeom prst="roundRect">
            <a:avLst>
              <a:gd name="adj" fmla="val 8163"/>
            </a:avLst>
          </a:prstGeom>
          <a:solidFill>
            <a:schemeClr val="tx1"/>
          </a:solidFill>
          <a:ln w="12700">
            <a:solidFill>
              <a:schemeClr val="tx1"/>
            </a:solidFill>
            <a:prstDash val="solid"/>
          </a:ln>
          <a:effectLst>
            <a:outerShdw sx="100000" sy="100000" kx="0" ky="0" algn="bl" rotWithShape="0" blurRad="76200" dist="25400" dir="5400000">
              <a:srgbClr val="0F2A33">
                <a:alpha val="18000"/>
              </a:srgbClr>
            </a:outerShdw>
          </a:effectLst>
        </p:spPr>
      </p:sp>
      <p:sp>
        <p:nvSpPr>
          <p:cNvPr id="69" name="Text 59"/>
          <p:cNvSpPr txBox="1"/>
          <p:nvPr/>
        </p:nvSpPr>
        <p:spPr>
          <a:xfrm>
            <a:off x="3495751" y="5458968"/>
            <a:ext cx="2359152" cy="274320"/>
          </a:xfrm>
          <a:prstGeom prst="rect">
            <a:avLst/>
          </a:prstGeom>
          <a:noFill/>
          <a:ln/>
        </p:spPr>
        <p:txBody>
          <a:bodyPr wrap="square" lIns="0" tIns="0" rIns="0" bIns="0" rtlCol="0" anchor="t"/>
          <a:lstStyle/>
          <a:p>
            <a:pPr indent="0" marL="0">
              <a:buNone/>
            </a:pPr>
            <a:r>
              <a:rPr lang="en-US" sz="1400" b="1" dirty="0">
                <a:solidFill>
                  <a:schemeClr val="bg1"/>
                </a:solidFill>
              </a:rPr>
              <a:t>Unity AI Gateway</a:t>
            </a:r>
            <a:endParaRPr lang="en-US" sz="1400" dirty="0"/>
          </a:p>
        </p:txBody>
      </p:sp>
      <p:sp>
        <p:nvSpPr>
          <p:cNvPr id="70" name="Text 60"/>
          <p:cNvSpPr txBox="1"/>
          <p:nvPr/>
        </p:nvSpPr>
        <p:spPr>
          <a:xfrm>
            <a:off x="3495751" y="5742432"/>
            <a:ext cx="2359152" cy="502920"/>
          </a:xfrm>
          <a:prstGeom prst="rect">
            <a:avLst/>
          </a:prstGeom>
          <a:noFill/>
          <a:ln/>
        </p:spPr>
        <p:txBody>
          <a:bodyPr wrap="square" lIns="0" tIns="0" rIns="0" bIns="0" rtlCol="0" anchor="t"/>
          <a:lstStyle/>
          <a:p>
            <a:pPr indent="0" marL="0">
              <a:buNone/>
            </a:pPr>
            <a:r>
              <a:rPr lang="en-US" sz="1200" dirty="0">
                <a:solidFill>
                  <a:schemeClr val="bg2"/>
                </a:solidFill>
              </a:rPr>
              <a:t>LLM guardrails, rate limits, usage logs</a:t>
            </a:r>
            <a:endParaRPr lang="en-US" sz="1200" dirty="0"/>
          </a:p>
        </p:txBody>
      </p:sp>
      <p:sp>
        <p:nvSpPr>
          <p:cNvPr id="71" name="Service Genie Space"/>
          <p:cNvSpPr/>
          <p:nvPr/>
        </p:nvSpPr>
        <p:spPr>
          <a:xfrm>
            <a:off x="6168542" y="5394960"/>
            <a:ext cx="2633472" cy="896112"/>
          </a:xfrm>
          <a:prstGeom prst="roundRect">
            <a:avLst>
              <a:gd name="adj" fmla="val 8163"/>
            </a:avLst>
          </a:prstGeom>
          <a:solidFill>
            <a:schemeClr val="tx1"/>
          </a:solidFill>
          <a:ln w="12700">
            <a:solidFill>
              <a:schemeClr val="tx1"/>
            </a:solidFill>
            <a:prstDash val="solid"/>
          </a:ln>
          <a:effectLst>
            <a:outerShdw sx="100000" sy="100000" kx="0" ky="0" algn="bl" rotWithShape="0" blurRad="76200" dist="25400" dir="5400000">
              <a:srgbClr val="0F2A33">
                <a:alpha val="18000"/>
              </a:srgbClr>
            </a:outerShdw>
          </a:effectLst>
        </p:spPr>
      </p:sp>
      <p:sp>
        <p:nvSpPr>
          <p:cNvPr id="72" name="Text 62"/>
          <p:cNvSpPr txBox="1"/>
          <p:nvPr/>
        </p:nvSpPr>
        <p:spPr>
          <a:xfrm>
            <a:off x="6305702" y="5458968"/>
            <a:ext cx="2359152" cy="274320"/>
          </a:xfrm>
          <a:prstGeom prst="rect">
            <a:avLst/>
          </a:prstGeom>
          <a:noFill/>
          <a:ln/>
        </p:spPr>
        <p:txBody>
          <a:bodyPr wrap="square" lIns="0" tIns="0" rIns="0" bIns="0" rtlCol="0" anchor="t"/>
          <a:lstStyle/>
          <a:p>
            <a:pPr indent="0" marL="0">
              <a:buNone/>
            </a:pPr>
            <a:r>
              <a:rPr lang="en-US" sz="1400" b="1" dirty="0">
                <a:solidFill>
                  <a:schemeClr val="bg1"/>
                </a:solidFill>
              </a:rPr>
              <a:t>Genie Space</a:t>
            </a:r>
            <a:endParaRPr lang="en-US" sz="1400" dirty="0"/>
          </a:p>
        </p:txBody>
      </p:sp>
      <p:sp>
        <p:nvSpPr>
          <p:cNvPr id="73" name="Text 63"/>
          <p:cNvSpPr txBox="1"/>
          <p:nvPr/>
        </p:nvSpPr>
        <p:spPr>
          <a:xfrm>
            <a:off x="6305702" y="5742432"/>
            <a:ext cx="2359152" cy="502920"/>
          </a:xfrm>
          <a:prstGeom prst="rect">
            <a:avLst/>
          </a:prstGeom>
          <a:noFill/>
          <a:ln/>
        </p:spPr>
        <p:txBody>
          <a:bodyPr wrap="square" lIns="0" tIns="0" rIns="0" bIns="0" rtlCol="0" anchor="t"/>
          <a:lstStyle/>
          <a:p>
            <a:pPr indent="0" marL="0">
              <a:buNone/>
            </a:pPr>
            <a:r>
              <a:rPr lang="en-US" sz="1200" dirty="0">
                <a:solidFill>
                  <a:schemeClr val="bg2"/>
                </a:solidFill>
              </a:rPr>
              <a:t>Natural language to SQL on governed tables</a:t>
            </a:r>
            <a:endParaRPr lang="en-US" sz="1200" dirty="0"/>
          </a:p>
        </p:txBody>
      </p:sp>
      <p:sp>
        <p:nvSpPr>
          <p:cNvPr id="74" name="Service Lakebase"/>
          <p:cNvSpPr/>
          <p:nvPr/>
        </p:nvSpPr>
        <p:spPr>
          <a:xfrm>
            <a:off x="8978494" y="5394960"/>
            <a:ext cx="2633472" cy="896112"/>
          </a:xfrm>
          <a:prstGeom prst="roundRect">
            <a:avLst>
              <a:gd name="adj" fmla="val 8163"/>
            </a:avLst>
          </a:prstGeom>
          <a:solidFill>
            <a:schemeClr val="tx1"/>
          </a:solidFill>
          <a:ln w="12700">
            <a:solidFill>
              <a:schemeClr val="tx1"/>
            </a:solidFill>
            <a:prstDash val="solid"/>
          </a:ln>
          <a:effectLst>
            <a:outerShdw sx="100000" sy="100000" kx="0" ky="0" algn="bl" rotWithShape="0" blurRad="76200" dist="25400" dir="5400000">
              <a:srgbClr val="0F2A33">
                <a:alpha val="18000"/>
              </a:srgbClr>
            </a:outerShdw>
          </a:effectLst>
        </p:spPr>
      </p:sp>
      <p:sp>
        <p:nvSpPr>
          <p:cNvPr id="75" name="Text 65"/>
          <p:cNvSpPr txBox="1"/>
          <p:nvPr/>
        </p:nvSpPr>
        <p:spPr>
          <a:xfrm>
            <a:off x="9115654" y="5458968"/>
            <a:ext cx="2359152" cy="274320"/>
          </a:xfrm>
          <a:prstGeom prst="rect">
            <a:avLst/>
          </a:prstGeom>
          <a:noFill/>
          <a:ln/>
        </p:spPr>
        <p:txBody>
          <a:bodyPr wrap="square" lIns="0" tIns="0" rIns="0" bIns="0" rtlCol="0" anchor="t"/>
          <a:lstStyle/>
          <a:p>
            <a:pPr indent="0" marL="0">
              <a:buNone/>
            </a:pPr>
            <a:r>
              <a:rPr lang="en-US" sz="1400" b="1" dirty="0">
                <a:solidFill>
                  <a:schemeClr val="bg1"/>
                </a:solidFill>
              </a:rPr>
              <a:t>Lakebase</a:t>
            </a:r>
            <a:endParaRPr lang="en-US" sz="1400" dirty="0"/>
          </a:p>
        </p:txBody>
      </p:sp>
      <p:sp>
        <p:nvSpPr>
          <p:cNvPr id="76" name="Text 66"/>
          <p:cNvSpPr txBox="1"/>
          <p:nvPr/>
        </p:nvSpPr>
        <p:spPr>
          <a:xfrm>
            <a:off x="9115654" y="5742432"/>
            <a:ext cx="2359152" cy="502920"/>
          </a:xfrm>
          <a:prstGeom prst="rect">
            <a:avLst/>
          </a:prstGeom>
          <a:noFill/>
          <a:ln/>
        </p:spPr>
        <p:txBody>
          <a:bodyPr wrap="square" lIns="0" tIns="0" rIns="0" bIns="0" rtlCol="0" anchor="t"/>
          <a:lstStyle/>
          <a:p>
            <a:pPr indent="0" marL="0">
              <a:buNone/>
            </a:pPr>
            <a:r>
              <a:rPr lang="en-US" sz="1200" dirty="0">
                <a:solidFill>
                  <a:schemeClr val="bg2"/>
                </a:solidFill>
              </a:rPr>
              <a:t>Low-latency run state, synced to Delta</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Healthcare claims data architecture</a:t>
            </a:r>
            <a:endParaRPr lang="en-US" sz="3600" dirty="0"/>
          </a:p>
        </p:txBody>
      </p:sp>
      <p:sp>
        <p:nvSpPr>
          <p:cNvPr id="3" name="RAW  (sentinel_hc.raw)"/>
          <p:cNvSpPr/>
          <p:nvPr/>
        </p:nvSpPr>
        <p:spPr>
          <a:xfrm>
            <a:off x="548640" y="1188720"/>
            <a:ext cx="4572000" cy="2377440"/>
          </a:xfrm>
          <a:prstGeom prst="roundRect">
            <a:avLst>
              <a:gd name="adj" fmla="val 3077"/>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4" name="RAW  (sentinel_hc.raw) dot"/>
          <p:cNvSpPr/>
          <p:nvPr/>
        </p:nvSpPr>
        <p:spPr>
          <a:xfrm>
            <a:off x="731520" y="1371600"/>
            <a:ext cx="201168" cy="201168"/>
          </a:xfrm>
          <a:prstGeom prst="ellipse">
            <a:avLst/>
          </a:prstGeom>
          <a:solidFill>
            <a:schemeClr val="accent5"/>
          </a:solidFill>
          <a:ln w="12700">
            <a:solidFill>
              <a:schemeClr val="accent5"/>
            </a:solidFill>
            <a:prstDash val="solid"/>
          </a:ln>
        </p:spPr>
      </p:sp>
      <p:sp>
        <p:nvSpPr>
          <p:cNvPr id="5" name="Text 3"/>
          <p:cNvSpPr txBox="1"/>
          <p:nvPr/>
        </p:nvSpPr>
        <p:spPr>
          <a:xfrm>
            <a:off x="1051560" y="1316736"/>
            <a:ext cx="3931920" cy="310896"/>
          </a:xfrm>
          <a:prstGeom prst="rect">
            <a:avLst/>
          </a:prstGeom>
          <a:noFill/>
          <a:ln/>
        </p:spPr>
        <p:txBody>
          <a:bodyPr wrap="square" lIns="0" tIns="0" rIns="0" bIns="0" rtlCol="0" anchor="t"/>
          <a:lstStyle/>
          <a:p>
            <a:pPr indent="0" marL="0">
              <a:buNone/>
            </a:pPr>
            <a:r>
              <a:rPr lang="en-US" sz="1600" b="1" dirty="0">
                <a:solidFill>
                  <a:schemeClr val="tx1"/>
                </a:solidFill>
              </a:rPr>
              <a:t>RAW  (sentinel_hc.raw)</a:t>
            </a:r>
            <a:endParaRPr lang="en-US" sz="1600" dirty="0"/>
          </a:p>
        </p:txBody>
      </p:sp>
      <p:sp>
        <p:nvSpPr>
          <p:cNvPr id="6" name="Text 4"/>
          <p:cNvSpPr txBox="1"/>
          <p:nvPr/>
        </p:nvSpPr>
        <p:spPr>
          <a:xfrm>
            <a:off x="731520" y="1691640"/>
            <a:ext cx="4206240" cy="274320"/>
          </a:xfrm>
          <a:prstGeom prst="rect">
            <a:avLst/>
          </a:prstGeom>
          <a:noFill/>
          <a:ln/>
        </p:spPr>
        <p:txBody>
          <a:bodyPr wrap="square" lIns="0" tIns="0" rIns="0" bIns="0" rtlCol="0" anchor="t"/>
          <a:lstStyle/>
          <a:p>
            <a:pPr indent="0" marL="0">
              <a:buNone/>
            </a:pPr>
            <a:r>
              <a:rPr lang="en-US" sz="1200" i="1" dirty="0">
                <a:solidFill>
                  <a:schemeClr val="accent6"/>
                </a:solidFill>
              </a:rPr>
              <a:t>Synthetic claims, no PHI</a:t>
            </a:r>
            <a:endParaRPr lang="en-US" sz="1200" dirty="0"/>
          </a:p>
        </p:txBody>
      </p:sp>
      <p:sp>
        <p:nvSpPr>
          <p:cNvPr id="7" name="Text 5"/>
          <p:cNvSpPr txBox="1"/>
          <p:nvPr/>
        </p:nvSpPr>
        <p:spPr>
          <a:xfrm>
            <a:off x="731520" y="2057400"/>
            <a:ext cx="420624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claim_header (claim_id, claim_version)</a:t>
            </a:r>
            <a:endParaRPr lang="en-US" sz="1300" dirty="0"/>
          </a:p>
          <a:p>
            <a:pPr marL="342900" indent="-342900">
              <a:spcAft>
                <a:spcPts val="400"/>
              </a:spcAft>
              <a:buSzPct val="100000"/>
              <a:buChar char="•"/>
            </a:pPr>
            <a:r>
              <a:rPr lang="en-US" sz="1300" dirty="0">
                <a:solidFill>
                  <a:schemeClr val="tx1"/>
                </a:solidFill>
              </a:rPr>
              <a:t>claim_line (line grain, billed amount)</a:t>
            </a:r>
            <a:endParaRPr lang="en-US" sz="1300" dirty="0"/>
          </a:p>
          <a:p>
            <a:pPr marL="342900" indent="-342900">
              <a:spcAft>
                <a:spcPts val="400"/>
              </a:spcAft>
              <a:buSzPct val="100000"/>
              <a:buChar char="•"/>
            </a:pPr>
            <a:r>
              <a:rPr lang="en-US" sz="1300" dirty="0">
                <a:solidFill>
                  <a:schemeClr val="tx1"/>
                </a:solidFill>
              </a:rPr>
              <a:t>member_eligibility (coverage spans)</a:t>
            </a:r>
            <a:endParaRPr lang="en-US" sz="1300" dirty="0"/>
          </a:p>
          <a:p>
            <a:pPr marL="342900" indent="-342900">
              <a:spcAft>
                <a:spcPts val="400"/>
              </a:spcAft>
              <a:buSzPct val="100000"/>
              <a:buChar char="•"/>
            </a:pPr>
            <a:r>
              <a:rPr lang="en-US" sz="1300" dirty="0">
                <a:solidFill>
                  <a:schemeClr val="tx1"/>
                </a:solidFill>
              </a:rPr>
              <a:t>member, plan, provider (network IN/OUT)</a:t>
            </a:r>
            <a:endParaRPr lang="en-US" sz="1300" dirty="0"/>
          </a:p>
          <a:p>
            <a:pPr marL="342900" indent="-342900">
              <a:spcAft>
                <a:spcPts val="400"/>
              </a:spcAft>
              <a:buSzPct val="100000"/>
              <a:buChar char="•"/>
            </a:pPr>
            <a:r>
              <a:rPr lang="en-US" sz="1300" dirty="0">
                <a:solidFill>
                  <a:schemeClr val="tx1"/>
                </a:solidFill>
              </a:rPr>
              <a:t>ref_cpt (fee schedule), ref_icd10</a:t>
            </a:r>
            <a:endParaRPr lang="en-US" sz="1300" dirty="0"/>
          </a:p>
        </p:txBody>
      </p:sp>
      <p:sp>
        <p:nvSpPr>
          <p:cNvPr id="8" name="SILVER"/>
          <p:cNvSpPr/>
          <p:nvPr/>
        </p:nvSpPr>
        <p:spPr>
          <a:xfrm>
            <a:off x="5532120" y="1188720"/>
            <a:ext cx="3108960" cy="2377440"/>
          </a:xfrm>
          <a:prstGeom prst="roundRect">
            <a:avLst>
              <a:gd name="adj" fmla="val 3077"/>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9" name="SILVER dot"/>
          <p:cNvSpPr/>
          <p:nvPr/>
        </p:nvSpPr>
        <p:spPr>
          <a:xfrm>
            <a:off x="5715000" y="1371600"/>
            <a:ext cx="201168" cy="201168"/>
          </a:xfrm>
          <a:prstGeom prst="ellipse">
            <a:avLst/>
          </a:prstGeom>
          <a:solidFill>
            <a:schemeClr val="accent2"/>
          </a:solidFill>
          <a:ln w="12700">
            <a:solidFill>
              <a:schemeClr val="accent2"/>
            </a:solidFill>
            <a:prstDash val="solid"/>
          </a:ln>
        </p:spPr>
      </p:sp>
      <p:sp>
        <p:nvSpPr>
          <p:cNvPr id="10" name="Text 8"/>
          <p:cNvSpPr txBox="1"/>
          <p:nvPr/>
        </p:nvSpPr>
        <p:spPr>
          <a:xfrm>
            <a:off x="6035040" y="1316736"/>
            <a:ext cx="2468880" cy="310896"/>
          </a:xfrm>
          <a:prstGeom prst="rect">
            <a:avLst/>
          </a:prstGeom>
          <a:noFill/>
          <a:ln/>
        </p:spPr>
        <p:txBody>
          <a:bodyPr wrap="square" lIns="0" tIns="0" rIns="0" bIns="0" rtlCol="0" anchor="t"/>
          <a:lstStyle/>
          <a:p>
            <a:pPr indent="0" marL="0">
              <a:buNone/>
            </a:pPr>
            <a:r>
              <a:rPr lang="en-US" sz="1600" b="1" dirty="0">
                <a:solidFill>
                  <a:schemeClr val="tx1"/>
                </a:solidFill>
              </a:rPr>
              <a:t>SILVER</a:t>
            </a:r>
            <a:endParaRPr lang="en-US" sz="1600" dirty="0"/>
          </a:p>
        </p:txBody>
      </p:sp>
      <p:sp>
        <p:nvSpPr>
          <p:cNvPr id="11" name="Text 9"/>
          <p:cNvSpPr txBox="1"/>
          <p:nvPr/>
        </p:nvSpPr>
        <p:spPr>
          <a:xfrm>
            <a:off x="5715000" y="1691640"/>
            <a:ext cx="2743200" cy="274320"/>
          </a:xfrm>
          <a:prstGeom prst="rect">
            <a:avLst/>
          </a:prstGeom>
          <a:noFill/>
          <a:ln/>
        </p:spPr>
        <p:txBody>
          <a:bodyPr wrap="square" lIns="0" tIns="0" rIns="0" bIns="0" rtlCol="0" anchor="t"/>
          <a:lstStyle/>
          <a:p>
            <a:pPr indent="0" marL="0">
              <a:buNone/>
            </a:pPr>
            <a:r>
              <a:rPr lang="en-US" sz="1200" i="1" dirty="0">
                <a:solidFill>
                  <a:schemeClr val="accent6"/>
                </a:solidFill>
              </a:rPr>
              <a:t>claim_line_enriched</a:t>
            </a:r>
            <a:endParaRPr lang="en-US" sz="1200" dirty="0"/>
          </a:p>
        </p:txBody>
      </p:sp>
      <p:sp>
        <p:nvSpPr>
          <p:cNvPr id="12" name="Text 10"/>
          <p:cNvSpPr txBox="1"/>
          <p:nvPr/>
        </p:nvSpPr>
        <p:spPr>
          <a:xfrm>
            <a:off x="5715000" y="2057400"/>
            <a:ext cx="274320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Latest claim version only</a:t>
            </a:r>
            <a:endParaRPr lang="en-US" sz="1300" dirty="0"/>
          </a:p>
          <a:p>
            <a:pPr marL="342900" indent="-342900">
              <a:spcAft>
                <a:spcPts val="400"/>
              </a:spcAft>
              <a:buSzPct val="100000"/>
              <a:buChar char="•"/>
            </a:pPr>
            <a:r>
              <a:rPr lang="en-US" sz="1300" dirty="0">
                <a:solidFill>
                  <a:schemeClr val="tx1"/>
                </a:solidFill>
              </a:rPr>
              <a:t>Eligible on date of service</a:t>
            </a:r>
            <a:endParaRPr lang="en-US" sz="1300" dirty="0"/>
          </a:p>
          <a:p>
            <a:pPr marL="342900" indent="-342900">
              <a:spcAft>
                <a:spcPts val="400"/>
              </a:spcAft>
              <a:buSzPct val="100000"/>
              <a:buChar char="•"/>
            </a:pPr>
            <a:r>
              <a:rPr lang="en-US" sz="1300" dirty="0">
                <a:solidFill>
                  <a:schemeClr val="tx1"/>
                </a:solidFill>
              </a:rPr>
              <a:t>VOID excluded</a:t>
            </a:r>
            <a:endParaRPr lang="en-US" sz="1300" dirty="0"/>
          </a:p>
          <a:p>
            <a:pPr marL="342900" indent="-342900">
              <a:spcAft>
                <a:spcPts val="400"/>
              </a:spcAft>
              <a:buSzPct val="100000"/>
              <a:buChar char="•"/>
            </a:pPr>
            <a:r>
              <a:rPr lang="en-US" sz="1300" dirty="0">
                <a:solidFill>
                  <a:schemeClr val="tx1"/>
                </a:solidFill>
              </a:rPr>
              <a:t>Allowed = min(billed, fee)</a:t>
            </a:r>
            <a:endParaRPr lang="en-US" sz="1300" dirty="0"/>
          </a:p>
          <a:p>
            <a:pPr marL="342900" indent="-342900">
              <a:spcAft>
                <a:spcPts val="400"/>
              </a:spcAft>
              <a:buSzPct val="100000"/>
              <a:buChar char="•"/>
            </a:pPr>
            <a:r>
              <a:rPr lang="en-US" sz="1300" dirty="0">
                <a:solidFill>
                  <a:schemeClr val="tx1"/>
                </a:solidFill>
              </a:rPr>
              <a:t>Cost share and plan paid</a:t>
            </a:r>
            <a:endParaRPr lang="en-US" sz="1300" dirty="0"/>
          </a:p>
        </p:txBody>
      </p:sp>
      <p:sp>
        <p:nvSpPr>
          <p:cNvPr id="13" name="GOLD"/>
          <p:cNvSpPr/>
          <p:nvPr/>
        </p:nvSpPr>
        <p:spPr>
          <a:xfrm>
            <a:off x="9052560" y="1188720"/>
            <a:ext cx="2560320" cy="2377440"/>
          </a:xfrm>
          <a:prstGeom prst="roundRect">
            <a:avLst>
              <a:gd name="adj" fmla="val 3077"/>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14" name="GOLD dot"/>
          <p:cNvSpPr/>
          <p:nvPr/>
        </p:nvSpPr>
        <p:spPr>
          <a:xfrm>
            <a:off x="9235440" y="1371600"/>
            <a:ext cx="201168" cy="201168"/>
          </a:xfrm>
          <a:prstGeom prst="ellipse">
            <a:avLst/>
          </a:prstGeom>
          <a:solidFill>
            <a:schemeClr val="accent1"/>
          </a:solidFill>
          <a:ln w="12700">
            <a:solidFill>
              <a:schemeClr val="accent1"/>
            </a:solidFill>
            <a:prstDash val="solid"/>
          </a:ln>
        </p:spPr>
      </p:sp>
      <p:sp>
        <p:nvSpPr>
          <p:cNvPr id="15" name="Text 13"/>
          <p:cNvSpPr txBox="1"/>
          <p:nvPr/>
        </p:nvSpPr>
        <p:spPr>
          <a:xfrm>
            <a:off x="9555480" y="1316736"/>
            <a:ext cx="1920240" cy="310896"/>
          </a:xfrm>
          <a:prstGeom prst="rect">
            <a:avLst/>
          </a:prstGeom>
          <a:noFill/>
          <a:ln/>
        </p:spPr>
        <p:txBody>
          <a:bodyPr wrap="square" lIns="0" tIns="0" rIns="0" bIns="0" rtlCol="0" anchor="t"/>
          <a:lstStyle/>
          <a:p>
            <a:pPr indent="0" marL="0">
              <a:buNone/>
            </a:pPr>
            <a:r>
              <a:rPr lang="en-US" sz="1600" b="1" dirty="0">
                <a:solidFill>
                  <a:schemeClr val="tx1"/>
                </a:solidFill>
              </a:rPr>
              <a:t>GOLD</a:t>
            </a:r>
            <a:endParaRPr lang="en-US" sz="1600" dirty="0"/>
          </a:p>
        </p:txBody>
      </p:sp>
      <p:sp>
        <p:nvSpPr>
          <p:cNvPr id="16" name="Text 14"/>
          <p:cNvSpPr txBox="1"/>
          <p:nvPr/>
        </p:nvSpPr>
        <p:spPr>
          <a:xfrm>
            <a:off x="9235440" y="1691640"/>
            <a:ext cx="2194560" cy="274320"/>
          </a:xfrm>
          <a:prstGeom prst="rect">
            <a:avLst/>
          </a:prstGeom>
          <a:noFill/>
          <a:ln/>
        </p:spPr>
        <p:txBody>
          <a:bodyPr wrap="square" lIns="0" tIns="0" rIns="0" bIns="0" rtlCol="0" anchor="t"/>
          <a:lstStyle/>
          <a:p>
            <a:pPr indent="0" marL="0">
              <a:buNone/>
            </a:pPr>
            <a:r>
              <a:rPr lang="en-US" sz="1200" i="1" dirty="0">
                <a:solidFill>
                  <a:schemeClr val="accent6"/>
                </a:solidFill>
              </a:rPr>
              <a:t>claims_kpi_monthly</a:t>
            </a:r>
            <a:endParaRPr lang="en-US" sz="1200" dirty="0"/>
          </a:p>
        </p:txBody>
      </p:sp>
      <p:sp>
        <p:nvSpPr>
          <p:cNvPr id="17" name="Text 15"/>
          <p:cNvSpPr txBox="1"/>
          <p:nvPr/>
        </p:nvSpPr>
        <p:spPr>
          <a:xfrm>
            <a:off x="9235440" y="2057400"/>
            <a:ext cx="219456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Claims, lines, claimants</a:t>
            </a:r>
            <a:endParaRPr lang="en-US" sz="1300" dirty="0"/>
          </a:p>
          <a:p>
            <a:pPr marL="342900" indent="-342900">
              <a:spcAft>
                <a:spcPts val="400"/>
              </a:spcAft>
              <a:buSzPct val="100000"/>
              <a:buChar char="•"/>
            </a:pPr>
            <a:r>
              <a:rPr lang="en-US" sz="1300" dirty="0">
                <a:solidFill>
                  <a:schemeClr val="tx1"/>
                </a:solidFill>
              </a:rPr>
              <a:t>Billed, allowed, paid</a:t>
            </a:r>
            <a:endParaRPr lang="en-US" sz="1300" dirty="0"/>
          </a:p>
          <a:p>
            <a:pPr marL="342900" indent="-342900">
              <a:spcAft>
                <a:spcPts val="400"/>
              </a:spcAft>
              <a:buSzPct val="100000"/>
              <a:buChar char="•"/>
            </a:pPr>
            <a:r>
              <a:rPr lang="en-US" sz="1300" dirty="0">
                <a:solidFill>
                  <a:schemeClr val="tx1"/>
                </a:solidFill>
              </a:rPr>
              <a:t>Denial rate</a:t>
            </a:r>
            <a:endParaRPr lang="en-US" sz="1300" dirty="0"/>
          </a:p>
          <a:p>
            <a:pPr marL="342900" indent="-342900">
              <a:spcAft>
                <a:spcPts val="400"/>
              </a:spcAft>
              <a:buSzPct val="100000"/>
              <a:buChar char="•"/>
            </a:pPr>
            <a:r>
              <a:rPr lang="en-US" sz="1300" dirty="0">
                <a:solidFill>
                  <a:schemeClr val="tx1"/>
                </a:solidFill>
              </a:rPr>
              <a:t>Paid per claimant</a:t>
            </a:r>
            <a:endParaRPr lang="en-US" sz="1300" dirty="0"/>
          </a:p>
        </p:txBody>
      </p:sp>
      <p:sp>
        <p:nvSpPr>
          <p:cNvPr id="18" name="Raw to silver"/>
          <p:cNvSpPr/>
          <p:nvPr/>
        </p:nvSpPr>
        <p:spPr>
          <a:xfrm>
            <a:off x="5148072" y="2514600"/>
            <a:ext cx="356616" cy="0"/>
          </a:xfrm>
          <a:prstGeom prst="line">
            <a:avLst/>
          </a:prstGeom>
          <a:noFill/>
          <a:ln w="28575">
            <a:solidFill>
              <a:schemeClr val="accent1"/>
            </a:solidFill>
            <a:prstDash val="solid"/>
            <a:tailEnd type="triangle"/>
          </a:ln>
        </p:spPr>
      </p:sp>
      <p:sp>
        <p:nvSpPr>
          <p:cNvPr id="19" name="Silver to gold"/>
          <p:cNvSpPr/>
          <p:nvPr/>
        </p:nvSpPr>
        <p:spPr>
          <a:xfrm>
            <a:off x="8668512" y="2514600"/>
            <a:ext cx="356616" cy="0"/>
          </a:xfrm>
          <a:prstGeom prst="line">
            <a:avLst/>
          </a:prstGeom>
          <a:noFill/>
          <a:ln w="28575">
            <a:solidFill>
              <a:schemeClr val="accent1"/>
            </a:solidFill>
            <a:prstDash val="solid"/>
            <a:tailEnd type="triangle"/>
          </a:ln>
        </p:spPr>
      </p:sp>
      <p:sp>
        <p:nvSpPr>
          <p:cNvPr id="20" name="Sandbox"/>
          <p:cNvSpPr/>
          <p:nvPr/>
        </p:nvSpPr>
        <p:spPr>
          <a:xfrm>
            <a:off x="548640" y="3931920"/>
            <a:ext cx="5486400" cy="2194560"/>
          </a:xfrm>
          <a:prstGeom prst="roundRect">
            <a:avLst>
              <a:gd name="adj" fmla="val 3333"/>
            </a:avLst>
          </a:prstGeom>
          <a:solidFill>
            <a:schemeClr val="bg2"/>
          </a:solidFill>
          <a:ln w="12700">
            <a:solidFill>
              <a:schemeClr val="bg2"/>
            </a:solidFill>
            <a:prstDash val="solid"/>
          </a:ln>
        </p:spPr>
      </p:sp>
      <p:sp>
        <p:nvSpPr>
          <p:cNvPr id="21" name="Text 19"/>
          <p:cNvSpPr txBox="1"/>
          <p:nvPr/>
        </p:nvSpPr>
        <p:spPr>
          <a:xfrm>
            <a:off x="777240" y="4087368"/>
            <a:ext cx="5029200" cy="310896"/>
          </a:xfrm>
          <a:prstGeom prst="rect">
            <a:avLst/>
          </a:prstGeom>
          <a:noFill/>
          <a:ln/>
        </p:spPr>
        <p:txBody>
          <a:bodyPr wrap="square" lIns="0" tIns="0" rIns="0" bIns="0" rtlCol="0" anchor="t"/>
          <a:lstStyle/>
          <a:p>
            <a:pPr indent="0" marL="0">
              <a:buNone/>
            </a:pPr>
            <a:r>
              <a:rPr lang="en-US" sz="1600" b="1" dirty="0">
                <a:solidFill>
                  <a:schemeClr val="tx1"/>
                </a:solidFill>
              </a:rPr>
              <a:t>SANDBOX  (sentinel_hc.sandbox)</a:t>
            </a:r>
            <a:endParaRPr lang="en-US" sz="1600" dirty="0"/>
          </a:p>
        </p:txBody>
      </p:sp>
      <p:sp>
        <p:nvSpPr>
          <p:cNvPr id="22" name="Text 20"/>
          <p:cNvSpPr txBox="1"/>
          <p:nvPr/>
        </p:nvSpPr>
        <p:spPr>
          <a:xfrm>
            <a:off x="777240" y="4526280"/>
            <a:ext cx="502920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&lt;target&gt;_baseline  = OLD logic output</a:t>
            </a:r>
            <a:endParaRPr lang="en-US" sz="1300" dirty="0"/>
          </a:p>
          <a:p>
            <a:pPr marL="342900" indent="-342900">
              <a:spcAft>
                <a:spcPts val="400"/>
              </a:spcAft>
              <a:buSzPct val="100000"/>
              <a:buChar char="•"/>
            </a:pPr>
            <a:r>
              <a:rPr lang="en-US" sz="1300" dirty="0">
                <a:solidFill>
                  <a:schemeClr val="tx1"/>
                </a:solidFill>
              </a:rPr>
              <a:t>&lt;target&gt;_candidate = NEW logic output</a:t>
            </a:r>
            <a:endParaRPr lang="en-US" sz="1300" dirty="0"/>
          </a:p>
          <a:p>
            <a:pPr marL="342900" indent="-342900">
              <a:spcAft>
                <a:spcPts val="400"/>
              </a:spcAft>
              <a:buSzPct val="100000"/>
              <a:buChar char="•"/>
            </a:pPr>
            <a:r>
              <a:rPr lang="en-US" sz="1300" dirty="0">
                <a:solidFill>
                  <a:schemeClr val="tx1"/>
                </a:solidFill>
              </a:rPr>
              <a:t>Throw-away tables; every test reads only these plus raw</a:t>
            </a:r>
            <a:endParaRPr lang="en-US" sz="1300" dirty="0"/>
          </a:p>
          <a:p>
            <a:pPr marL="342900" indent="-342900">
              <a:spcAft>
                <a:spcPts val="400"/>
              </a:spcAft>
              <a:buSzPct val="100000"/>
              <a:buChar char="•"/>
            </a:pPr>
            <a:r>
              <a:rPr lang="en-US" sz="1300" dirty="0">
                <a:solidFill>
                  <a:schemeClr val="tx1"/>
                </a:solidFill>
              </a:rPr>
              <a:t>Gold candidate reads silver candidate to show downstream impact</a:t>
            </a:r>
            <a:endParaRPr lang="en-US" sz="1300" dirty="0"/>
          </a:p>
        </p:txBody>
      </p:sp>
      <p:sp>
        <p:nvSpPr>
          <p:cNvPr id="23" name="Meta"/>
          <p:cNvSpPr/>
          <p:nvPr/>
        </p:nvSpPr>
        <p:spPr>
          <a:xfrm>
            <a:off x="6309360" y="3931920"/>
            <a:ext cx="5303520" cy="2194560"/>
          </a:xfrm>
          <a:prstGeom prst="roundRect">
            <a:avLst>
              <a:gd name="adj" fmla="val 3333"/>
            </a:avLst>
          </a:prstGeom>
          <a:solidFill>
            <a:schemeClr val="tx1"/>
          </a:solidFill>
          <a:ln w="12700">
            <a:solidFill>
              <a:schemeClr val="tx1"/>
            </a:solidFill>
            <a:prstDash val="solid"/>
          </a:ln>
          <a:effectLst>
            <a:outerShdw sx="100000" sy="100000" kx="0" ky="0" algn="bl" rotWithShape="0" blurRad="76200" dist="25400" dir="5400000">
              <a:srgbClr val="0F2A33">
                <a:alpha val="18000"/>
              </a:srgbClr>
            </a:outerShdw>
          </a:effectLst>
        </p:spPr>
      </p:sp>
      <p:sp>
        <p:nvSpPr>
          <p:cNvPr id="24" name="Text 22"/>
          <p:cNvSpPr txBox="1"/>
          <p:nvPr/>
        </p:nvSpPr>
        <p:spPr>
          <a:xfrm>
            <a:off x="6537960" y="4087368"/>
            <a:ext cx="4846320" cy="310896"/>
          </a:xfrm>
          <a:prstGeom prst="rect">
            <a:avLst/>
          </a:prstGeom>
          <a:noFill/>
          <a:ln/>
        </p:spPr>
        <p:txBody>
          <a:bodyPr wrap="square" lIns="0" tIns="0" rIns="0" bIns="0" rtlCol="0" anchor="t"/>
          <a:lstStyle/>
          <a:p>
            <a:pPr indent="0" marL="0">
              <a:buNone/>
            </a:pPr>
            <a:r>
              <a:rPr lang="en-US" sz="1600" b="1" dirty="0">
                <a:solidFill>
                  <a:schemeClr val="bg1"/>
                </a:solidFill>
              </a:rPr>
              <a:t>META  (sentinel_hc.meta)</a:t>
            </a:r>
            <a:endParaRPr lang="en-US" sz="1600" dirty="0"/>
          </a:p>
        </p:txBody>
      </p:sp>
      <p:sp>
        <p:nvSpPr>
          <p:cNvPr id="25" name="Text 23"/>
          <p:cNvSpPr txBox="1"/>
          <p:nvPr/>
        </p:nvSpPr>
        <p:spPr>
          <a:xfrm>
            <a:off x="6537960" y="4526280"/>
            <a:ext cx="484632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2"/>
                </a:solidFill>
              </a:rPr>
              <a:t>test_runs: Trust Score, verdict per run</a:t>
            </a:r>
            <a:endParaRPr lang="en-US" sz="1300" dirty="0"/>
          </a:p>
          <a:p>
            <a:pPr marL="342900" indent="-342900">
              <a:spcAft>
                <a:spcPts val="400"/>
              </a:spcAft>
              <a:buSzPct val="100000"/>
              <a:buChar char="•"/>
            </a:pPr>
            <a:r>
              <a:rPr lang="en-US" sz="1300" dirty="0">
                <a:solidFill>
                  <a:schemeClr val="bg2"/>
                </a:solidFill>
              </a:rPr>
              <a:t>test_cases and test_results: SQL, outcome, class, AI hint</a:t>
            </a:r>
            <a:endParaRPr lang="en-US" sz="1300" dirty="0"/>
          </a:p>
          <a:p>
            <a:pPr marL="342900" indent="-342900">
              <a:spcAft>
                <a:spcPts val="400"/>
              </a:spcAft>
              <a:buSzPct val="100000"/>
              <a:buChar char="•"/>
            </a:pPr>
            <a:r>
              <a:rPr lang="en-US" sz="1300" dirty="0">
                <a:solidFill>
                  <a:schemeClr val="bg2"/>
                </a:solidFill>
              </a:rPr>
              <a:t>change_analysis: summary, risk, structural diff</a:t>
            </a:r>
            <a:endParaRPr lang="en-US" sz="1300" dirty="0"/>
          </a:p>
          <a:p>
            <a:pPr marL="342900" indent="-342900">
              <a:spcAft>
                <a:spcPts val="400"/>
              </a:spcAft>
              <a:buSzPct val="100000"/>
              <a:buChar char="•"/>
            </a:pPr>
            <a:r>
              <a:rPr lang="en-US" sz="1300" dirty="0">
                <a:solidFill>
                  <a:schemeClr val="bg2"/>
                </a:solidFill>
              </a:rPr>
              <a:t>prompt_audit: prompt text + skill version</a:t>
            </a:r>
            <a:endParaRPr lang="en-US" sz="1300" dirty="0"/>
          </a:p>
        </p:txBody>
      </p:sp>
      <p:sp>
        <p:nvSpPr>
          <p:cNvPr id="26" name="Silver to sandbox tests"/>
          <p:cNvSpPr/>
          <p:nvPr/>
        </p:nvSpPr>
        <p:spPr>
          <a:xfrm>
            <a:off x="7086600" y="3593592"/>
            <a:ext cx="0" cy="310896"/>
          </a:xfrm>
          <a:prstGeom prst="line">
            <a:avLst/>
          </a:prstGeom>
          <a:noFill/>
          <a:ln w="28575">
            <a:solidFill>
              <a:schemeClr val="accent1"/>
            </a:solidFill>
            <a:prstDash val="solid"/>
            <a:tailEnd type="triangle"/>
          </a:ln>
        </p:spPr>
      </p:sp>
      <p:sp>
        <p:nvSpPr>
          <p:cNvPr id="27" name="Sandbox to meta"/>
          <p:cNvSpPr/>
          <p:nvPr/>
        </p:nvSpPr>
        <p:spPr>
          <a:xfrm>
            <a:off x="6062472" y="5029200"/>
            <a:ext cx="228600" cy="0"/>
          </a:xfrm>
          <a:prstGeom prst="line">
            <a:avLst/>
          </a:prstGeom>
          <a:noFill/>
          <a:ln w="28575">
            <a:solidFill>
              <a:schemeClr val="accent1"/>
            </a:solidFill>
            <a:prstDash val="solid"/>
            <a:tailEnd type="triangle"/>
          </a:ln>
        </p:spPr>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Genie prompts come from skill files</a:t>
            </a:r>
            <a:endParaRPr lang="en-US" sz="3600" dirty="0"/>
          </a:p>
        </p:txBody>
      </p:sp>
      <p:sp>
        <p:nvSpPr>
          <p:cNvPr id="3" name="Flow Skill file"/>
          <p:cNvSpPr/>
          <p:nvPr/>
        </p:nvSpPr>
        <p:spPr>
          <a:xfrm>
            <a:off x="548640" y="1188720"/>
            <a:ext cx="3931920" cy="960120"/>
          </a:xfrm>
          <a:prstGeom prst="roundRect">
            <a:avLst>
              <a:gd name="adj" fmla="val 7619"/>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4" name="Step 1"/>
          <p:cNvSpPr/>
          <p:nvPr/>
        </p:nvSpPr>
        <p:spPr>
          <a:xfrm>
            <a:off x="731520" y="1435608"/>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4356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344168"/>
            <a:ext cx="3017520" cy="320040"/>
          </a:xfrm>
          <a:prstGeom prst="rect">
            <a:avLst/>
          </a:prstGeom>
          <a:noFill/>
          <a:ln/>
        </p:spPr>
        <p:txBody>
          <a:bodyPr wrap="square" lIns="0" tIns="0" rIns="0" bIns="0" rtlCol="0" anchor="t"/>
          <a:lstStyle/>
          <a:p>
            <a:pPr indent="0" marL="0">
              <a:buNone/>
            </a:pPr>
            <a:r>
              <a:rPr lang="en-US" sz="1600" b="1" dirty="0">
                <a:solidFill>
                  <a:schemeClr val="tx1"/>
                </a:solidFill>
              </a:rPr>
              <a:t>Skill file</a:t>
            </a:r>
            <a:endParaRPr lang="en-US" sz="1600" dirty="0"/>
          </a:p>
        </p:txBody>
      </p:sp>
      <p:sp>
        <p:nvSpPr>
          <p:cNvPr id="7" name="Text 5"/>
          <p:cNvSpPr txBox="1"/>
          <p:nvPr/>
        </p:nvSpPr>
        <p:spPr>
          <a:xfrm>
            <a:off x="1371600" y="1691640"/>
            <a:ext cx="3017520" cy="365760"/>
          </a:xfrm>
          <a:prstGeom prst="rect">
            <a:avLst/>
          </a:prstGeom>
          <a:noFill/>
          <a:ln/>
        </p:spPr>
        <p:txBody>
          <a:bodyPr wrap="square" lIns="0" tIns="0" rIns="0" bIns="0" rtlCol="0" anchor="t"/>
          <a:lstStyle/>
          <a:p>
            <a:pPr indent="0" marL="0">
              <a:buNone/>
            </a:pPr>
            <a:r>
              <a:rPr lang="en-US" sz="1200" dirty="0">
                <a:solidFill>
                  <a:schemeClr val="accent6"/>
                </a:solidFill>
              </a:rPr>
              <a:t>SKILL.md: metadata + prompt template</a:t>
            </a:r>
            <a:endParaRPr lang="en-US" sz="1200" dirty="0"/>
          </a:p>
        </p:txBody>
      </p:sp>
      <p:sp>
        <p:nvSpPr>
          <p:cNvPr id="8" name="Flow arrow 1"/>
          <p:cNvSpPr/>
          <p:nvPr/>
        </p:nvSpPr>
        <p:spPr>
          <a:xfrm>
            <a:off x="2514600" y="2167128"/>
            <a:ext cx="0" cy="237744"/>
          </a:xfrm>
          <a:prstGeom prst="line">
            <a:avLst/>
          </a:prstGeom>
          <a:noFill/>
          <a:ln w="28575">
            <a:solidFill>
              <a:schemeClr val="accent1"/>
            </a:solidFill>
            <a:prstDash val="solid"/>
            <a:tailEnd type="triangle"/>
          </a:ln>
        </p:spPr>
      </p:sp>
      <p:sp>
        <p:nvSpPr>
          <p:cNvPr id="9" name="Flow Registry renders"/>
          <p:cNvSpPr/>
          <p:nvPr/>
        </p:nvSpPr>
        <p:spPr>
          <a:xfrm>
            <a:off x="548640" y="2423160"/>
            <a:ext cx="3931920" cy="960120"/>
          </a:xfrm>
          <a:prstGeom prst="roundRect">
            <a:avLst>
              <a:gd name="adj" fmla="val 7619"/>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10" name="Step 2"/>
          <p:cNvSpPr/>
          <p:nvPr/>
        </p:nvSpPr>
        <p:spPr>
          <a:xfrm>
            <a:off x="731520" y="2670048"/>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731520" y="26700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1371600" y="2578608"/>
            <a:ext cx="3017520" cy="320040"/>
          </a:xfrm>
          <a:prstGeom prst="rect">
            <a:avLst/>
          </a:prstGeom>
          <a:noFill/>
          <a:ln/>
        </p:spPr>
        <p:txBody>
          <a:bodyPr wrap="square" lIns="0" tIns="0" rIns="0" bIns="0" rtlCol="0" anchor="t"/>
          <a:lstStyle/>
          <a:p>
            <a:pPr indent="0" marL="0">
              <a:buNone/>
            </a:pPr>
            <a:r>
              <a:rPr lang="en-US" sz="1600" b="1" dirty="0">
                <a:solidFill>
                  <a:schemeClr val="tx1"/>
                </a:solidFill>
              </a:rPr>
              <a:t>Registry renders</a:t>
            </a:r>
            <a:endParaRPr lang="en-US" sz="1600" dirty="0"/>
          </a:p>
        </p:txBody>
      </p:sp>
      <p:sp>
        <p:nvSpPr>
          <p:cNvPr id="13" name="Text 11"/>
          <p:cNvSpPr txBox="1"/>
          <p:nvPr/>
        </p:nvSpPr>
        <p:spPr>
          <a:xfrm>
            <a:off x="1371600" y="2926080"/>
            <a:ext cx="3017520" cy="365760"/>
          </a:xfrm>
          <a:prstGeom prst="rect">
            <a:avLst/>
          </a:prstGeom>
          <a:noFill/>
          <a:ln/>
        </p:spPr>
        <p:txBody>
          <a:bodyPr wrap="square" lIns="0" tIns="0" rIns="0" bIns="0" rtlCol="0" anchor="t"/>
          <a:lstStyle/>
          <a:p>
            <a:pPr indent="0" marL="0">
              <a:buNone/>
            </a:pPr>
            <a:r>
              <a:rPr lang="en-US" sz="1200" dirty="0">
                <a:solidFill>
                  <a:schemeClr val="accent6"/>
                </a:solidFill>
              </a:rPr>
              <a:t>includes, inputs checked, version hash</a:t>
            </a:r>
            <a:endParaRPr lang="en-US" sz="1200" dirty="0"/>
          </a:p>
        </p:txBody>
      </p:sp>
      <p:sp>
        <p:nvSpPr>
          <p:cNvPr id="14" name="Flow arrow 2"/>
          <p:cNvSpPr/>
          <p:nvPr/>
        </p:nvSpPr>
        <p:spPr>
          <a:xfrm>
            <a:off x="2514600" y="3401568"/>
            <a:ext cx="0" cy="237744"/>
          </a:xfrm>
          <a:prstGeom prst="line">
            <a:avLst/>
          </a:prstGeom>
          <a:noFill/>
          <a:ln w="28575">
            <a:solidFill>
              <a:schemeClr val="accent1"/>
            </a:solidFill>
            <a:prstDash val="solid"/>
            <a:tailEnd type="triangle"/>
          </a:ln>
        </p:spPr>
      </p:sp>
      <p:sp>
        <p:nvSpPr>
          <p:cNvPr id="15" name="Flow Brain routes"/>
          <p:cNvSpPr/>
          <p:nvPr/>
        </p:nvSpPr>
        <p:spPr>
          <a:xfrm>
            <a:off x="548640" y="3657600"/>
            <a:ext cx="3931920" cy="960120"/>
          </a:xfrm>
          <a:prstGeom prst="roundRect">
            <a:avLst>
              <a:gd name="adj" fmla="val 7619"/>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16" name="Step 3"/>
          <p:cNvSpPr/>
          <p:nvPr/>
        </p:nvSpPr>
        <p:spPr>
          <a:xfrm>
            <a:off x="731520" y="3904488"/>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731520" y="39044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1371600" y="3813048"/>
            <a:ext cx="3017520" cy="320040"/>
          </a:xfrm>
          <a:prstGeom prst="rect">
            <a:avLst/>
          </a:prstGeom>
          <a:noFill/>
          <a:ln/>
        </p:spPr>
        <p:txBody>
          <a:bodyPr wrap="square" lIns="0" tIns="0" rIns="0" bIns="0" rtlCol="0" anchor="t"/>
          <a:lstStyle/>
          <a:p>
            <a:pPr indent="0" marL="0">
              <a:buNone/>
            </a:pPr>
            <a:r>
              <a:rPr lang="en-US" sz="1600" b="1" dirty="0">
                <a:solidFill>
                  <a:schemeClr val="tx1"/>
                </a:solidFill>
              </a:rPr>
              <a:t>Brain routes</a:t>
            </a:r>
            <a:endParaRPr lang="en-US" sz="1600" dirty="0"/>
          </a:p>
        </p:txBody>
      </p:sp>
      <p:sp>
        <p:nvSpPr>
          <p:cNvPr id="19" name="Text 17"/>
          <p:cNvSpPr txBox="1"/>
          <p:nvPr/>
        </p:nvSpPr>
        <p:spPr>
          <a:xfrm>
            <a:off x="1371600" y="4160520"/>
            <a:ext cx="3017520" cy="365760"/>
          </a:xfrm>
          <a:prstGeom prst="rect">
            <a:avLst/>
          </a:prstGeom>
          <a:noFill/>
          <a:ln/>
        </p:spPr>
        <p:txBody>
          <a:bodyPr wrap="square" lIns="0" tIns="0" rIns="0" bIns="0" rtlCol="0" anchor="t"/>
          <a:lstStyle/>
          <a:p>
            <a:pPr indent="0" marL="0">
              <a:buNone/>
            </a:pPr>
            <a:r>
              <a:rPr lang="en-US" sz="1200" dirty="0">
                <a:solidFill>
                  <a:schemeClr val="accent6"/>
                </a:solidFill>
              </a:rPr>
              <a:t>Genie first, LLM fallback</a:t>
            </a:r>
            <a:endParaRPr lang="en-US" sz="1200" dirty="0"/>
          </a:p>
        </p:txBody>
      </p:sp>
      <p:sp>
        <p:nvSpPr>
          <p:cNvPr id="20" name="Flow arrow 3"/>
          <p:cNvSpPr/>
          <p:nvPr/>
        </p:nvSpPr>
        <p:spPr>
          <a:xfrm>
            <a:off x="2514600" y="4636008"/>
            <a:ext cx="0" cy="237744"/>
          </a:xfrm>
          <a:prstGeom prst="line">
            <a:avLst/>
          </a:prstGeom>
          <a:noFill/>
          <a:ln w="28575">
            <a:solidFill>
              <a:schemeClr val="accent1"/>
            </a:solidFill>
            <a:prstDash val="solid"/>
            <a:tailEnd type="triangle"/>
          </a:ln>
        </p:spPr>
      </p:sp>
      <p:sp>
        <p:nvSpPr>
          <p:cNvPr id="21" name="Flow Audit logged"/>
          <p:cNvSpPr/>
          <p:nvPr/>
        </p:nvSpPr>
        <p:spPr>
          <a:xfrm>
            <a:off x="548640" y="4892040"/>
            <a:ext cx="3931920" cy="960120"/>
          </a:xfrm>
          <a:prstGeom prst="roundRect">
            <a:avLst>
              <a:gd name="adj" fmla="val 7619"/>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22" name="Step 4"/>
          <p:cNvSpPr/>
          <p:nvPr/>
        </p:nvSpPr>
        <p:spPr>
          <a:xfrm>
            <a:off x="731520" y="5138928"/>
            <a:ext cx="457200" cy="457200"/>
          </a:xfrm>
          <a:prstGeom prst="ellipse">
            <a:avLst/>
          </a:prstGeom>
          <a:solidFill>
            <a:schemeClr val="accent1"/>
          </a:solidFill>
          <a:ln w="12700">
            <a:solidFill>
              <a:schemeClr val="accent1"/>
            </a:solidFill>
            <a:prstDash val="solid"/>
          </a:ln>
        </p:spPr>
      </p:sp>
      <p:sp>
        <p:nvSpPr>
          <p:cNvPr id="23" name="Text 21"/>
          <p:cNvSpPr txBox="1"/>
          <p:nvPr/>
        </p:nvSpPr>
        <p:spPr>
          <a:xfrm>
            <a:off x="731520" y="51389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1371600" y="5047488"/>
            <a:ext cx="3017520" cy="320040"/>
          </a:xfrm>
          <a:prstGeom prst="rect">
            <a:avLst/>
          </a:prstGeom>
          <a:noFill/>
          <a:ln/>
        </p:spPr>
        <p:txBody>
          <a:bodyPr wrap="square" lIns="0" tIns="0" rIns="0" bIns="0" rtlCol="0" anchor="t"/>
          <a:lstStyle/>
          <a:p>
            <a:pPr indent="0" marL="0">
              <a:buNone/>
            </a:pPr>
            <a:r>
              <a:rPr lang="en-US" sz="1600" b="1" dirty="0">
                <a:solidFill>
                  <a:schemeClr val="tx1"/>
                </a:solidFill>
              </a:rPr>
              <a:t>Audit logged</a:t>
            </a:r>
            <a:endParaRPr lang="en-US" sz="1600" dirty="0"/>
          </a:p>
        </p:txBody>
      </p:sp>
      <p:sp>
        <p:nvSpPr>
          <p:cNvPr id="25" name="Text 23"/>
          <p:cNvSpPr txBox="1"/>
          <p:nvPr/>
        </p:nvSpPr>
        <p:spPr>
          <a:xfrm>
            <a:off x="1371600" y="5394960"/>
            <a:ext cx="3017520" cy="365760"/>
          </a:xfrm>
          <a:prstGeom prst="rect">
            <a:avLst/>
          </a:prstGeom>
          <a:noFill/>
          <a:ln/>
        </p:spPr>
        <p:txBody>
          <a:bodyPr wrap="square" lIns="0" tIns="0" rIns="0" bIns="0" rtlCol="0" anchor="t"/>
          <a:lstStyle/>
          <a:p>
            <a:pPr indent="0" marL="0">
              <a:buNone/>
            </a:pPr>
            <a:r>
              <a:rPr lang="en-US" sz="1200" dirty="0">
                <a:solidFill>
                  <a:schemeClr val="accent6"/>
                </a:solidFill>
              </a:rPr>
              <a:t>prompt + skill version per run</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188720"/>
          <a:ext cx="6766560" cy="914400"/>
        </p:xfrm>
        <a:graphic>
          <a:graphicData uri="http://schemas.openxmlformats.org/drawingml/2006/table">
            <a:tbl>
              <a:tblPr/>
              <a:tblGrid>
                <a:gridCol w="2468880"/>
                <a:gridCol w="1554480"/>
                <a:gridCol w="2743200"/>
              </a:tblGrid>
              <a:tr h="475488">
                <a:tc>
                  <a:txBody>
                    <a:bodyPr/>
                    <a:lstStyle/>
                    <a:p>
                      <a:pPr indent="0" marL="0">
                        <a:buNone/>
                      </a:pPr>
                      <a:r>
                        <a:rPr lang="en-US" sz="1300" b="1" dirty="0">
                          <a:solidFill>
                            <a:schemeClr val="bg1"/>
                          </a:solidFill>
                        </a:rPr>
                        <a:t>Skill</a:t>
                      </a:r>
                      <a:endParaRPr lang="en-US" sz="13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Engine</a:t>
                      </a:r>
                      <a:endParaRPr lang="en-US" sz="13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Produces</a:t>
                      </a:r>
                      <a:endParaRPr lang="en-US" sz="13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475488">
                <a:tc>
                  <a:txBody>
                    <a:bodyPr/>
                    <a:lstStyle/>
                    <a:p>
                      <a:pPr indent="0" marL="0">
                        <a:buNone/>
                      </a:pPr>
                      <a:r>
                        <a:rPr lang="en-US" sz="1200" b="1" dirty="0">
                          <a:solidFill>
                            <a:schemeClr val="tx1"/>
                          </a:solidFill>
                        </a:rPr>
                        <a:t>domain-healthcare-claims</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included in all</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Glossary + rule catalog</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analyze-sql-change</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Genie, then LLM</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Summary, rules, risks (JSON)</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rule-to-validation-sql</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Genie, then LLM</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One SELECT returning violations</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edge-case-tests</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LLM</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Edge-case tests (JSON)</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classify-failures</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LLM</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Expected / regression / data issue</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genie-space-instructions</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Genie setup</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Tables + instructions for the Space</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genie-followup-questions</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Genie</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Post-run questions for notebook/App</a:t>
                      </a:r>
                      <a:endParaRPr lang="en-US" sz="1200" dirty="0"/>
                    </a:p>
                  </a:txBody>
                  <a:tcPr marL="91440" marR="91440"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27" name="Text 24"/>
          <p:cNvSpPr txBox="1"/>
          <p:nvPr/>
        </p:nvSpPr>
        <p:spPr>
          <a:xfrm>
            <a:off x="4846320" y="5303520"/>
            <a:ext cx="6766560" cy="731520"/>
          </a:xfrm>
          <a:prstGeom prst="rect">
            <a:avLst/>
          </a:prstGeom>
          <a:noFill/>
          <a:ln/>
        </p:spPr>
        <p:txBody>
          <a:bodyPr wrap="square" lIns="0" tIns="0" rIns="0" bIns="0" rtlCol="0" anchor="t"/>
          <a:lstStyle/>
          <a:p>
            <a:pPr indent="0" marL="0">
              <a:buNone/>
            </a:pPr>
            <a:r>
              <a:rPr lang="en-US" sz="1400" i="1" dirty="0">
                <a:solidFill>
                  <a:schemeClr val="accent1"/>
                </a:solidFill>
              </a:rPr>
              <a:t>Change a skill file and behavior changes - no Python edits. Every rendered prompt is stored with its skill version hash.</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Run it in Databricks: three notebooks</a:t>
            </a:r>
            <a:endParaRPr lang="en-US" sz="3600" dirty="0"/>
          </a:p>
        </p:txBody>
      </p:sp>
      <p:sp>
        <p:nvSpPr>
          <p:cNvPr id="3" name="Notebook 00"/>
          <p:cNvSpPr/>
          <p:nvPr/>
        </p:nvSpPr>
        <p:spPr>
          <a:xfrm>
            <a:off x="548640" y="1188720"/>
            <a:ext cx="3566160" cy="3566160"/>
          </a:xfrm>
          <a:prstGeom prst="roundRect">
            <a:avLst>
              <a:gd name="adj" fmla="val 2051"/>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4" name="Badge 00"/>
          <p:cNvSpPr/>
          <p:nvPr/>
        </p:nvSpPr>
        <p:spPr>
          <a:xfrm>
            <a:off x="777240" y="1371600"/>
            <a:ext cx="640080" cy="640080"/>
          </a:xfrm>
          <a:prstGeom prst="ellipse">
            <a:avLst/>
          </a:prstGeom>
          <a:solidFill>
            <a:schemeClr val="accent1"/>
          </a:solidFill>
          <a:ln w="12700">
            <a:solidFill>
              <a:schemeClr val="accent1"/>
            </a:solidFill>
            <a:prstDash val="solid"/>
          </a:ln>
        </p:spPr>
      </p:sp>
      <p:sp>
        <p:nvSpPr>
          <p:cNvPr id="5" name="Text 3"/>
          <p:cNvSpPr txBox="1"/>
          <p:nvPr/>
        </p:nvSpPr>
        <p:spPr>
          <a:xfrm>
            <a:off x="777240" y="13716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00</a:t>
            </a:r>
            <a:endParaRPr lang="en-US" sz="2000" dirty="0"/>
          </a:p>
        </p:txBody>
      </p:sp>
      <p:sp>
        <p:nvSpPr>
          <p:cNvPr id="6" name="Text 4"/>
          <p:cNvSpPr txBox="1"/>
          <p:nvPr/>
        </p:nvSpPr>
        <p:spPr>
          <a:xfrm>
            <a:off x="1554480" y="1371600"/>
            <a:ext cx="2377440" cy="640080"/>
          </a:xfrm>
          <a:prstGeom prst="rect">
            <a:avLst/>
          </a:prstGeom>
          <a:noFill/>
          <a:ln/>
        </p:spPr>
        <p:txBody>
          <a:bodyPr wrap="square" lIns="0" tIns="0" rIns="0" bIns="0" rtlCol="0" anchor="ctr"/>
          <a:lstStyle/>
          <a:p>
            <a:pPr indent="0" marL="0">
              <a:buNone/>
            </a:pPr>
            <a:r>
              <a:rPr lang="en-US" sz="2000" b="1" dirty="0">
                <a:solidFill>
                  <a:schemeClr val="tx1"/>
                </a:solidFill>
              </a:rPr>
              <a:t>Setup</a:t>
            </a:r>
            <a:endParaRPr lang="en-US" sz="2000" dirty="0"/>
          </a:p>
        </p:txBody>
      </p:sp>
      <p:sp>
        <p:nvSpPr>
          <p:cNvPr id="7" name="Text 5"/>
          <p:cNvSpPr txBox="1"/>
          <p:nvPr/>
        </p:nvSpPr>
        <p:spPr>
          <a:xfrm>
            <a:off x="777240" y="2286000"/>
            <a:ext cx="315468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Runs ddl/*.sql</a:t>
            </a:r>
            <a:endParaRPr lang="en-US" sz="1400" dirty="0"/>
          </a:p>
          <a:p>
            <a:pPr marL="342900" indent="-342900">
              <a:spcAft>
                <a:spcPts val="800"/>
              </a:spcAft>
              <a:buSzPct val="100000"/>
              <a:buChar char="•"/>
            </a:pPr>
            <a:r>
              <a:rPr lang="en-US" sz="1400" dirty="0">
                <a:solidFill>
                  <a:schemeClr val="tx1"/>
                </a:solidFill>
              </a:rPr>
              <a:t>Loads ~20k synthetic claims</a:t>
            </a:r>
            <a:endParaRPr lang="en-US" sz="1400" dirty="0"/>
          </a:p>
          <a:p>
            <a:pPr marL="342900" indent="-342900">
              <a:spcAft>
                <a:spcPts val="800"/>
              </a:spcAft>
              <a:buSzPct val="100000"/>
              <a:buChar char="•"/>
            </a:pPr>
            <a:r>
              <a:rPr lang="en-US" sz="1400" dirty="0">
                <a:solidFill>
                  <a:schemeClr val="tx1"/>
                </a:solidFill>
              </a:rPr>
              <a:t>Builds production silver + gold</a:t>
            </a:r>
            <a:endParaRPr lang="en-US" sz="1400" dirty="0"/>
          </a:p>
          <a:p>
            <a:pPr marL="342900" indent="-342900">
              <a:spcAft>
                <a:spcPts val="800"/>
              </a:spcAft>
              <a:buSzPct val="100000"/>
              <a:buChar char="•"/>
            </a:pPr>
            <a:r>
              <a:rPr lang="en-US" sz="1400" dirty="0">
                <a:solidFill>
                  <a:schemeClr val="tx1"/>
                </a:solidFill>
              </a:rPr>
              <a:t>Prints Genie Space instructions</a:t>
            </a:r>
            <a:endParaRPr lang="en-US" sz="1400" dirty="0"/>
          </a:p>
        </p:txBody>
      </p:sp>
      <p:sp>
        <p:nvSpPr>
          <p:cNvPr id="8" name="Notebook arrow 1"/>
          <p:cNvSpPr/>
          <p:nvPr/>
        </p:nvSpPr>
        <p:spPr>
          <a:xfrm>
            <a:off x="4133088" y="2971800"/>
            <a:ext cx="146304" cy="0"/>
          </a:xfrm>
          <a:prstGeom prst="line">
            <a:avLst/>
          </a:prstGeom>
          <a:noFill/>
          <a:ln w="28575">
            <a:solidFill>
              <a:schemeClr val="accent1"/>
            </a:solidFill>
            <a:prstDash val="solid"/>
            <a:tailEnd type="triangle"/>
          </a:ln>
        </p:spPr>
      </p:sp>
      <p:sp>
        <p:nvSpPr>
          <p:cNvPr id="9" name="Notebook 01"/>
          <p:cNvSpPr/>
          <p:nvPr/>
        </p:nvSpPr>
        <p:spPr>
          <a:xfrm>
            <a:off x="4297680" y="1188720"/>
            <a:ext cx="3566160" cy="3566160"/>
          </a:xfrm>
          <a:prstGeom prst="roundRect">
            <a:avLst>
              <a:gd name="adj" fmla="val 2051"/>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10" name="Badge 01"/>
          <p:cNvSpPr/>
          <p:nvPr/>
        </p:nvSpPr>
        <p:spPr>
          <a:xfrm>
            <a:off x="4526280" y="1371600"/>
            <a:ext cx="640080" cy="640080"/>
          </a:xfrm>
          <a:prstGeom prst="ellipse">
            <a:avLst/>
          </a:prstGeom>
          <a:solidFill>
            <a:schemeClr val="accent1"/>
          </a:solidFill>
          <a:ln w="12700">
            <a:solidFill>
              <a:schemeClr val="accent1"/>
            </a:solidFill>
            <a:prstDash val="solid"/>
          </a:ln>
        </p:spPr>
      </p:sp>
      <p:sp>
        <p:nvSpPr>
          <p:cNvPr id="11" name="Text 9"/>
          <p:cNvSpPr txBox="1"/>
          <p:nvPr/>
        </p:nvSpPr>
        <p:spPr>
          <a:xfrm>
            <a:off x="4526280" y="13716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01</a:t>
            </a:r>
            <a:endParaRPr lang="en-US" sz="2000" dirty="0"/>
          </a:p>
        </p:txBody>
      </p:sp>
      <p:sp>
        <p:nvSpPr>
          <p:cNvPr id="12" name="Text 10"/>
          <p:cNvSpPr txBox="1"/>
          <p:nvPr/>
        </p:nvSpPr>
        <p:spPr>
          <a:xfrm>
            <a:off x="5303520" y="1371600"/>
            <a:ext cx="2377440" cy="640080"/>
          </a:xfrm>
          <a:prstGeom prst="rect">
            <a:avLst/>
          </a:prstGeom>
          <a:noFill/>
          <a:ln/>
        </p:spPr>
        <p:txBody>
          <a:bodyPr wrap="square" lIns="0" tIns="0" rIns="0" bIns="0" rtlCol="0" anchor="ctr"/>
          <a:lstStyle/>
          <a:p>
            <a:pPr indent="0" marL="0">
              <a:buNone/>
            </a:pPr>
            <a:r>
              <a:rPr lang="en-US" sz="2000" b="1" dirty="0">
                <a:solidFill>
                  <a:schemeClr val="tx1"/>
                </a:solidFill>
              </a:rPr>
              <a:t>Run regression</a:t>
            </a:r>
            <a:endParaRPr lang="en-US" sz="2000" dirty="0"/>
          </a:p>
        </p:txBody>
      </p:sp>
      <p:sp>
        <p:nvSpPr>
          <p:cNvPr id="13" name="Text 11"/>
          <p:cNvSpPr txBox="1"/>
          <p:nvPr/>
        </p:nvSpPr>
        <p:spPr>
          <a:xfrm>
            <a:off x="4526280" y="2286000"/>
            <a:ext cx="315468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Pick scenario: defects, intended, no change</a:t>
            </a:r>
            <a:endParaRPr lang="en-US" sz="1400" dirty="0"/>
          </a:p>
          <a:p>
            <a:pPr marL="342900" indent="-342900">
              <a:spcAft>
                <a:spcPts val="800"/>
              </a:spcAft>
              <a:buSzPct val="100000"/>
              <a:buChar char="•"/>
            </a:pPr>
            <a:r>
              <a:rPr lang="en-US" sz="1400" dirty="0">
                <a:solidFill>
                  <a:schemeClr val="tx1"/>
                </a:solidFill>
              </a:rPr>
              <a:t>Genie + LLM analyze and test</a:t>
            </a:r>
            <a:endParaRPr lang="en-US" sz="1400" dirty="0"/>
          </a:p>
          <a:p>
            <a:pPr marL="342900" indent="-342900">
              <a:spcAft>
                <a:spcPts val="800"/>
              </a:spcAft>
              <a:buSzPct val="100000"/>
              <a:buChar char="•"/>
            </a:pPr>
            <a:r>
              <a:rPr lang="en-US" sz="1400" dirty="0">
                <a:solidFill>
                  <a:schemeClr val="tx1"/>
                </a:solidFill>
              </a:rPr>
              <a:t>Trust Score + silver-to-gold cascade</a:t>
            </a:r>
            <a:endParaRPr lang="en-US" sz="1400" dirty="0"/>
          </a:p>
          <a:p>
            <a:pPr marL="342900" indent="-342900">
              <a:spcAft>
                <a:spcPts val="800"/>
              </a:spcAft>
              <a:buSzPct val="100000"/>
              <a:buChar char="•"/>
            </a:pPr>
            <a:r>
              <a:rPr lang="en-US" sz="1400" dirty="0">
                <a:solidFill>
                  <a:schemeClr val="tx1"/>
                </a:solidFill>
              </a:rPr>
              <a:t>Optional CI gate (fail on BLOCK)</a:t>
            </a:r>
            <a:endParaRPr lang="en-US" sz="1400" dirty="0"/>
          </a:p>
        </p:txBody>
      </p:sp>
      <p:sp>
        <p:nvSpPr>
          <p:cNvPr id="14" name="Notebook arrow 2"/>
          <p:cNvSpPr/>
          <p:nvPr/>
        </p:nvSpPr>
        <p:spPr>
          <a:xfrm>
            <a:off x="7882128" y="2971800"/>
            <a:ext cx="146304" cy="0"/>
          </a:xfrm>
          <a:prstGeom prst="line">
            <a:avLst/>
          </a:prstGeom>
          <a:noFill/>
          <a:ln w="28575">
            <a:solidFill>
              <a:schemeClr val="accent1"/>
            </a:solidFill>
            <a:prstDash val="solid"/>
            <a:tailEnd type="triangle"/>
          </a:ln>
        </p:spPr>
      </p:sp>
      <p:sp>
        <p:nvSpPr>
          <p:cNvPr id="15" name="Notebook 02"/>
          <p:cNvSpPr/>
          <p:nvPr/>
        </p:nvSpPr>
        <p:spPr>
          <a:xfrm>
            <a:off x="8046720" y="1188720"/>
            <a:ext cx="3566160" cy="3566160"/>
          </a:xfrm>
          <a:prstGeom prst="roundRect">
            <a:avLst>
              <a:gd name="adj" fmla="val 2051"/>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16" name="Badge 02"/>
          <p:cNvSpPr/>
          <p:nvPr/>
        </p:nvSpPr>
        <p:spPr>
          <a:xfrm>
            <a:off x="8275320" y="1371600"/>
            <a:ext cx="640080" cy="640080"/>
          </a:xfrm>
          <a:prstGeom prst="ellipse">
            <a:avLst/>
          </a:prstGeom>
          <a:solidFill>
            <a:schemeClr val="accent1"/>
          </a:solidFill>
          <a:ln w="12700">
            <a:solidFill>
              <a:schemeClr val="accent1"/>
            </a:solidFill>
            <a:prstDash val="solid"/>
          </a:ln>
        </p:spPr>
      </p:sp>
      <p:sp>
        <p:nvSpPr>
          <p:cNvPr id="17" name="Text 15"/>
          <p:cNvSpPr txBox="1"/>
          <p:nvPr/>
        </p:nvSpPr>
        <p:spPr>
          <a:xfrm>
            <a:off x="8275320" y="13716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02</a:t>
            </a:r>
            <a:endParaRPr lang="en-US" sz="2000" dirty="0"/>
          </a:p>
        </p:txBody>
      </p:sp>
      <p:sp>
        <p:nvSpPr>
          <p:cNvPr id="18" name="Text 16"/>
          <p:cNvSpPr txBox="1"/>
          <p:nvPr/>
        </p:nvSpPr>
        <p:spPr>
          <a:xfrm>
            <a:off x="9052560" y="1371600"/>
            <a:ext cx="2377440" cy="640080"/>
          </a:xfrm>
          <a:prstGeom prst="rect">
            <a:avLst/>
          </a:prstGeom>
          <a:noFill/>
          <a:ln/>
        </p:spPr>
        <p:txBody>
          <a:bodyPr wrap="square" lIns="0" tIns="0" rIns="0" bIns="0" rtlCol="0" anchor="ctr"/>
          <a:lstStyle/>
          <a:p>
            <a:pPr indent="0" marL="0">
              <a:buNone/>
            </a:pPr>
            <a:r>
              <a:rPr lang="en-US" sz="2000" b="1" dirty="0">
                <a:solidFill>
                  <a:schemeClr val="tx1"/>
                </a:solidFill>
              </a:rPr>
              <a:t>Genie insights</a:t>
            </a:r>
            <a:endParaRPr lang="en-US" sz="2000" dirty="0"/>
          </a:p>
        </p:txBody>
      </p:sp>
      <p:sp>
        <p:nvSpPr>
          <p:cNvPr id="19" name="Text 17"/>
          <p:cNvSpPr txBox="1"/>
          <p:nvPr/>
        </p:nvSpPr>
        <p:spPr>
          <a:xfrm>
            <a:off x="8275320" y="2286000"/>
            <a:ext cx="315468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Questions come from skill file</a:t>
            </a:r>
            <a:endParaRPr lang="en-US" sz="1400" dirty="0"/>
          </a:p>
          <a:p>
            <a:pPr marL="342900" indent="-342900">
              <a:spcAft>
                <a:spcPts val="800"/>
              </a:spcAft>
              <a:buSzPct val="100000"/>
              <a:buChar char="•"/>
            </a:pPr>
            <a:r>
              <a:rPr lang="en-US" sz="1400" dirty="0">
                <a:solidFill>
                  <a:schemeClr val="tx1"/>
                </a:solidFill>
              </a:rPr>
              <a:t>Genie writes and runs the SQL</a:t>
            </a:r>
            <a:endParaRPr lang="en-US" sz="1400" dirty="0"/>
          </a:p>
          <a:p>
            <a:pPr marL="342900" indent="-342900">
              <a:spcAft>
                <a:spcPts val="800"/>
              </a:spcAft>
              <a:buSzPct val="100000"/>
              <a:buChar char="•"/>
            </a:pPr>
            <a:r>
              <a:rPr lang="en-US" sz="1400" dirty="0">
                <a:solidFill>
                  <a:schemeClr val="tx1"/>
                </a:solidFill>
              </a:rPr>
              <a:t>Prompt audit by skill version</a:t>
            </a:r>
            <a:endParaRPr lang="en-US" sz="1400" dirty="0"/>
          </a:p>
          <a:p>
            <a:pPr marL="342900" indent="-342900">
              <a:spcAft>
                <a:spcPts val="800"/>
              </a:spcAft>
              <a:buSzPct val="100000"/>
              <a:buChar char="•"/>
            </a:pPr>
            <a:r>
              <a:rPr lang="en-US" sz="1400" dirty="0">
                <a:solidFill>
                  <a:schemeClr val="tx1"/>
                </a:solidFill>
              </a:rPr>
              <a:t>Feeds AI/BI dashboard and App</a:t>
            </a:r>
            <a:endParaRPr lang="en-US" sz="1400" dirty="0"/>
          </a:p>
        </p:txBody>
      </p:sp>
      <p:sp>
        <p:nvSpPr>
          <p:cNvPr id="20" name="Also"/>
          <p:cNvSpPr/>
          <p:nvPr/>
        </p:nvSpPr>
        <p:spPr>
          <a:xfrm>
            <a:off x="548640" y="5074920"/>
            <a:ext cx="11064240" cy="1097280"/>
          </a:xfrm>
          <a:prstGeom prst="roundRect">
            <a:avLst>
              <a:gd name="adj" fmla="val 6667"/>
            </a:avLst>
          </a:prstGeom>
          <a:solidFill>
            <a:schemeClr val="bg2"/>
          </a:solidFill>
          <a:ln w="12700">
            <a:solidFill>
              <a:schemeClr val="bg2"/>
            </a:solidFill>
            <a:prstDash val="solid"/>
          </a:ln>
        </p:spPr>
      </p:sp>
      <p:sp>
        <p:nvSpPr>
          <p:cNvPr id="21" name="Text 19"/>
          <p:cNvSpPr txBox="1"/>
          <p:nvPr/>
        </p:nvSpPr>
        <p:spPr>
          <a:xfrm>
            <a:off x="777240" y="5166360"/>
            <a:ext cx="3657600" cy="274320"/>
          </a:xfrm>
          <a:prstGeom prst="rect">
            <a:avLst/>
          </a:prstGeom>
          <a:noFill/>
          <a:ln/>
        </p:spPr>
        <p:txBody>
          <a:bodyPr wrap="square" lIns="0" tIns="0" rIns="0" bIns="0" rtlCol="0" anchor="t"/>
          <a:lstStyle/>
          <a:p>
            <a:pPr indent="0" marL="0">
              <a:buNone/>
            </a:pPr>
            <a:r>
              <a:rPr lang="en-US" sz="1400" b="1" dirty="0">
                <a:solidFill>
                  <a:schemeClr val="tx1"/>
                </a:solidFill>
              </a:rPr>
              <a:t>Also in the repo</a:t>
            </a:r>
            <a:endParaRPr lang="en-US" sz="1400" dirty="0"/>
          </a:p>
        </p:txBody>
      </p:sp>
      <p:sp>
        <p:nvSpPr>
          <p:cNvPr id="22" name="Text 20"/>
          <p:cNvSpPr txBox="1"/>
          <p:nvPr/>
        </p:nvSpPr>
        <p:spPr>
          <a:xfrm>
            <a:off x="777240" y="5486400"/>
            <a:ext cx="10607040" cy="548640"/>
          </a:xfrm>
          <a:prstGeom prst="rect">
            <a:avLst/>
          </a:prstGeom>
          <a:noFill/>
          <a:ln/>
        </p:spPr>
        <p:txBody>
          <a:bodyPr wrap="square" lIns="0" tIns="0" rIns="0" bIns="0" rtlCol="0" anchor="t"/>
          <a:lstStyle/>
          <a:p>
            <a:pPr indent="0" marL="0">
              <a:buNone/>
            </a:pPr>
            <a:r>
              <a:rPr lang="en-US" sz="1300" dirty="0">
                <a:solidFill>
                  <a:schemeClr val="tx1"/>
                </a:solidFill>
              </a:rPr>
              <a:t>databricks.yml (Job: 00 &gt; 01 &gt; 02 and App)   |   app/app.py (Streamlit)   |   sql/dashboard_queries.sql (AI/BI)   |   tests/test_local_duckdb.py (offline check)</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What it catches</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315200" cy="914400"/>
        </p:xfrm>
        <a:graphic>
          <a:graphicData uri="http://schemas.openxmlformats.org/drawingml/2006/table">
            <a:tbl>
              <a:tblPr/>
              <a:tblGrid>
                <a:gridCol w="2377440"/>
                <a:gridCol w="2926080"/>
                <a:gridCol w="2011680"/>
              </a:tblGrid>
              <a:tr h="411480">
                <a:tc>
                  <a:txBody>
                    <a:bodyPr/>
                    <a:lstStyle/>
                    <a:p>
                      <a:pPr indent="0" marL="0">
                        <a:buNone/>
                      </a:pPr>
                      <a:r>
                        <a:rPr lang="en-US" sz="1300" b="1" dirty="0">
                          <a:solidFill>
                            <a:schemeClr val="bg1"/>
                          </a:solidFill>
                        </a:rPr>
                        <a:t>Change in silver SQL</a:t>
                      </a:r>
                      <a:endParaRPr lang="en-US" sz="13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Business impact</a:t>
                      </a:r>
                      <a:endParaRPr lang="en-US" sz="13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Caught by</a:t>
                      </a:r>
                      <a:endParaRPr lang="en-US" sz="13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868680">
                <a:tc>
                  <a:txBody>
                    <a:bodyPr/>
                    <a:lstStyle/>
                    <a:p>
                      <a:pPr indent="0" marL="0">
                        <a:buNone/>
                      </a:pPr>
                      <a:r>
                        <a:rPr lang="en-US" sz="1200" b="1" dirty="0">
                          <a:solidFill>
                            <a:schemeClr val="tx1"/>
                          </a:solidFill>
                        </a:rPr>
                        <a:t>Eligibility date predicate dropped</a:t>
                      </a:r>
                      <a:endParaRPr lang="en-US" sz="12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Members who changed plan are double counted and priced on the wrong plan</a:t>
                      </a:r>
                      <a:endParaRPr lang="en-US" sz="12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Unique key, row count, eligibility rule</a:t>
                      </a:r>
                      <a:endParaRPr lang="en-US" sz="12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685800">
                <a:tc>
                  <a:txBody>
                    <a:bodyPr/>
                    <a:lstStyle/>
                    <a:p>
                      <a:pPr indent="0" marL="0">
                        <a:buNone/>
                      </a:pPr>
                      <a:r>
                        <a:rPr lang="en-US" sz="1200" b="1" dirty="0">
                          <a:solidFill>
                            <a:schemeClr val="tx1"/>
                          </a:solidFill>
                        </a:rPr>
                        <a:t>VOID claim filter removed</a:t>
                      </a:r>
                      <a:endParaRPr lang="en-US" sz="12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Cancelled claims leak into reporting</a:t>
                      </a:r>
                      <a:endParaRPr lang="en-US" sz="12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VOID rule, row-level diff</a:t>
                      </a:r>
                      <a:endParaRPr lang="en-US" sz="12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685800">
                <a:tc>
                  <a:txBody>
                    <a:bodyPr/>
                    <a:lstStyle/>
                    <a:p>
                      <a:pPr indent="0" marL="0">
                        <a:buNone/>
                      </a:pPr>
                      <a:r>
                        <a:rPr lang="en-US" sz="1200" b="1" dirty="0">
                          <a:solidFill>
                            <a:schemeClr val="tx1"/>
                          </a:solidFill>
                        </a:rPr>
                        <a:t>Fee-schedule cap ignored</a:t>
                      </a:r>
                      <a:endParaRPr lang="en-US" sz="12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Allowed equals billed: overstated payments</a:t>
                      </a:r>
                      <a:endParaRPr lang="en-US" sz="12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Fee rule, SUM(allowed) drift</a:t>
                      </a:r>
                      <a:endParaRPr lang="en-US" sz="12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777240">
                <a:tc>
                  <a:txBody>
                    <a:bodyPr/>
                    <a:lstStyle/>
                    <a:p>
                      <a:pPr indent="0" marL="0">
                        <a:buNone/>
                      </a:pPr>
                      <a:r>
                        <a:rPr lang="en-US" sz="1200" b="1" dirty="0">
                          <a:solidFill>
                            <a:schemeClr val="tx1"/>
                          </a:solidFill>
                        </a:rPr>
                        <a:t>Added primary_dx, chronic_flag (intended)</a:t>
                      </a:r>
                      <a:endParaRPr lang="en-US" sz="12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Additive change, no logic impact</a:t>
                      </a:r>
                      <a:endParaRPr lang="en-US" sz="12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Schema drift = expected change, SAFE</a:t>
                      </a:r>
                      <a:endParaRPr lang="en-US" sz="12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bl>
          </a:graphicData>
        </a:graphic>
      </p:graphicFrame>
      <p:sp>
        <p:nvSpPr>
          <p:cNvPr id="4" name="Stat 1"/>
          <p:cNvSpPr/>
          <p:nvPr/>
        </p:nvSpPr>
        <p:spPr>
          <a:xfrm>
            <a:off x="8229600" y="1188720"/>
            <a:ext cx="3383280" cy="896112"/>
          </a:xfrm>
          <a:prstGeom prst="roundRect">
            <a:avLst>
              <a:gd name="adj" fmla="val 8163"/>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5" name="Text 2"/>
          <p:cNvSpPr txBox="1"/>
          <p:nvPr/>
        </p:nvSpPr>
        <p:spPr>
          <a:xfrm>
            <a:off x="8366760" y="1188720"/>
            <a:ext cx="1417320" cy="896112"/>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BLOCK</a:t>
            </a:r>
            <a:endParaRPr lang="en-US" sz="2600" dirty="0"/>
          </a:p>
        </p:txBody>
      </p:sp>
      <p:sp>
        <p:nvSpPr>
          <p:cNvPr id="6" name="Text 3"/>
          <p:cNvSpPr txBox="1"/>
          <p:nvPr/>
        </p:nvSpPr>
        <p:spPr>
          <a:xfrm>
            <a:off x="9784080" y="1188720"/>
            <a:ext cx="1737360" cy="896112"/>
          </a:xfrm>
          <a:prstGeom prst="rect">
            <a:avLst/>
          </a:prstGeom>
          <a:noFill/>
          <a:ln/>
        </p:spPr>
        <p:txBody>
          <a:bodyPr wrap="square" lIns="0" tIns="0" rIns="0" bIns="0" rtlCol="0" anchor="ctr"/>
          <a:lstStyle/>
          <a:p>
            <a:pPr indent="0" marL="0">
              <a:buNone/>
            </a:pPr>
            <a:r>
              <a:rPr lang="en-US" sz="1200" dirty="0">
                <a:solidFill>
                  <a:schemeClr val="tx1"/>
                </a:solidFill>
              </a:rPr>
              <a:t>verdict for the 3-defect candidate</a:t>
            </a:r>
            <a:endParaRPr lang="en-US" sz="1200" dirty="0"/>
          </a:p>
        </p:txBody>
      </p:sp>
      <p:sp>
        <p:nvSpPr>
          <p:cNvPr id="7" name="Stat 2"/>
          <p:cNvSpPr/>
          <p:nvPr/>
        </p:nvSpPr>
        <p:spPr>
          <a:xfrm>
            <a:off x="8229600" y="2212848"/>
            <a:ext cx="3383280" cy="896112"/>
          </a:xfrm>
          <a:prstGeom prst="roundRect">
            <a:avLst>
              <a:gd name="adj" fmla="val 8163"/>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8" name="Text 5"/>
          <p:cNvSpPr txBox="1"/>
          <p:nvPr/>
        </p:nvSpPr>
        <p:spPr>
          <a:xfrm>
            <a:off x="8366760" y="2212848"/>
            <a:ext cx="1417320" cy="896112"/>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+25.6%</a:t>
            </a:r>
            <a:endParaRPr lang="en-US" sz="2600" dirty="0"/>
          </a:p>
        </p:txBody>
      </p:sp>
      <p:sp>
        <p:nvSpPr>
          <p:cNvPr id="9" name="Text 6"/>
          <p:cNvSpPr txBox="1"/>
          <p:nvPr/>
        </p:nvSpPr>
        <p:spPr>
          <a:xfrm>
            <a:off x="9784080" y="2212848"/>
            <a:ext cx="1737360" cy="896112"/>
          </a:xfrm>
          <a:prstGeom prst="rect">
            <a:avLst/>
          </a:prstGeom>
          <a:noFill/>
          <a:ln/>
        </p:spPr>
        <p:txBody>
          <a:bodyPr wrap="square" lIns="0" tIns="0" rIns="0" bIns="0" rtlCol="0" anchor="ctr"/>
          <a:lstStyle/>
          <a:p>
            <a:pPr indent="0" marL="0">
              <a:buNone/>
            </a:pPr>
            <a:r>
              <a:rPr lang="en-US" sz="1200" dirty="0">
                <a:solidFill>
                  <a:schemeClr val="tx1"/>
                </a:solidFill>
              </a:rPr>
              <a:t>rows vs baseline (fan-out)</a:t>
            </a:r>
            <a:endParaRPr lang="en-US" sz="1200" dirty="0"/>
          </a:p>
        </p:txBody>
      </p:sp>
      <p:sp>
        <p:nvSpPr>
          <p:cNvPr id="10" name="Stat 3"/>
          <p:cNvSpPr/>
          <p:nvPr/>
        </p:nvSpPr>
        <p:spPr>
          <a:xfrm>
            <a:off x="8229600" y="3236976"/>
            <a:ext cx="3383280" cy="896112"/>
          </a:xfrm>
          <a:prstGeom prst="roundRect">
            <a:avLst>
              <a:gd name="adj" fmla="val 8163"/>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11" name="Text 8"/>
          <p:cNvSpPr txBox="1"/>
          <p:nvPr/>
        </p:nvSpPr>
        <p:spPr>
          <a:xfrm>
            <a:off x="8366760" y="3236976"/>
            <a:ext cx="1417320" cy="896112"/>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945</a:t>
            </a:r>
            <a:endParaRPr lang="en-US" sz="2600" dirty="0"/>
          </a:p>
        </p:txBody>
      </p:sp>
      <p:sp>
        <p:nvSpPr>
          <p:cNvPr id="12" name="Text 9"/>
          <p:cNvSpPr txBox="1"/>
          <p:nvPr/>
        </p:nvSpPr>
        <p:spPr>
          <a:xfrm>
            <a:off x="9784080" y="3236976"/>
            <a:ext cx="1737360" cy="896112"/>
          </a:xfrm>
          <a:prstGeom prst="rect">
            <a:avLst/>
          </a:prstGeom>
          <a:noFill/>
          <a:ln/>
        </p:spPr>
        <p:txBody>
          <a:bodyPr wrap="square" lIns="0" tIns="0" rIns="0" bIns="0" rtlCol="0" anchor="ctr"/>
          <a:lstStyle/>
          <a:p>
            <a:pPr indent="0" marL="0">
              <a:buNone/>
            </a:pPr>
            <a:r>
              <a:rPr lang="en-US" sz="1200" dirty="0">
                <a:solidFill>
                  <a:schemeClr val="tx1"/>
                </a:solidFill>
              </a:rPr>
              <a:t>duplicate claim-line keys</a:t>
            </a:r>
            <a:endParaRPr lang="en-US" sz="1200" dirty="0"/>
          </a:p>
        </p:txBody>
      </p:sp>
      <p:sp>
        <p:nvSpPr>
          <p:cNvPr id="13" name="Stat 4"/>
          <p:cNvSpPr/>
          <p:nvPr/>
        </p:nvSpPr>
        <p:spPr>
          <a:xfrm>
            <a:off x="8229600" y="4261104"/>
            <a:ext cx="3383280" cy="896112"/>
          </a:xfrm>
          <a:prstGeom prst="roundRect">
            <a:avLst>
              <a:gd name="adj" fmla="val 8163"/>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14" name="Text 11"/>
          <p:cNvSpPr txBox="1"/>
          <p:nvPr/>
        </p:nvSpPr>
        <p:spPr>
          <a:xfrm>
            <a:off x="8366760" y="4261104"/>
            <a:ext cx="1417320" cy="896112"/>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97</a:t>
            </a:r>
            <a:endParaRPr lang="en-US" sz="2600" dirty="0"/>
          </a:p>
        </p:txBody>
      </p:sp>
      <p:sp>
        <p:nvSpPr>
          <p:cNvPr id="15" name="Text 12"/>
          <p:cNvSpPr txBox="1"/>
          <p:nvPr/>
        </p:nvSpPr>
        <p:spPr>
          <a:xfrm>
            <a:off x="9784080" y="4261104"/>
            <a:ext cx="1737360" cy="896112"/>
          </a:xfrm>
          <a:prstGeom prst="rect">
            <a:avLst/>
          </a:prstGeom>
          <a:noFill/>
          <a:ln/>
        </p:spPr>
        <p:txBody>
          <a:bodyPr wrap="square" lIns="0" tIns="0" rIns="0" bIns="0" rtlCol="0" anchor="ctr"/>
          <a:lstStyle/>
          <a:p>
            <a:pPr indent="0" marL="0">
              <a:buNone/>
            </a:pPr>
            <a:r>
              <a:rPr lang="en-US" sz="1200" dirty="0">
                <a:solidFill>
                  <a:schemeClr val="tx1"/>
                </a:solidFill>
              </a:rPr>
              <a:t>Trust Score for the intended change</a:t>
            </a:r>
            <a:endParaRPr lang="en-US" sz="1200" dirty="0"/>
          </a:p>
        </p:txBody>
      </p:sp>
      <p:sp>
        <p:nvSpPr>
          <p:cNvPr id="16" name="Text 13"/>
          <p:cNvSpPr txBox="1"/>
          <p:nvPr/>
        </p:nvSpPr>
        <p:spPr>
          <a:xfrm>
            <a:off x="548640" y="5120640"/>
            <a:ext cx="7315200" cy="320040"/>
          </a:xfrm>
          <a:prstGeom prst="rect">
            <a:avLst/>
          </a:prstGeom>
          <a:noFill/>
          <a:ln/>
        </p:spPr>
        <p:txBody>
          <a:bodyPr wrap="square" lIns="0" tIns="0" rIns="0" bIns="0" rtlCol="0" anchor="t"/>
          <a:lstStyle/>
          <a:p>
            <a:pPr indent="0" marL="0">
              <a:buNone/>
            </a:pPr>
            <a:r>
              <a:rPr lang="en-US" sz="1600" b="1" dirty="0">
                <a:solidFill>
                  <a:schemeClr val="accent1"/>
                </a:solidFill>
              </a:rPr>
              <a:t>Trust Score:  90+ SAFE   |   70-89 REVIEW   |   below 70 BLOCK</a:t>
            </a:r>
            <a:endParaRPr lang="en-US" sz="1600" dirty="0"/>
          </a:p>
        </p:txBody>
      </p:sp>
      <p:sp>
        <p:nvSpPr>
          <p:cNvPr id="17" name="Text 14"/>
          <p:cNvSpPr txBox="1"/>
          <p:nvPr/>
        </p:nvSpPr>
        <p:spPr>
          <a:xfrm>
            <a:off x="548640" y="5532120"/>
            <a:ext cx="11064240" cy="548640"/>
          </a:xfrm>
          <a:prstGeom prst="rect">
            <a:avLst/>
          </a:prstGeom>
          <a:noFill/>
          <a:ln/>
        </p:spPr>
        <p:txBody>
          <a:bodyPr wrap="square" lIns="0" tIns="0" rIns="0" bIns="0" rtlCol="0" anchor="t"/>
          <a:lstStyle/>
          <a:p>
            <a:pPr indent="0" marL="0">
              <a:buNone/>
            </a:pPr>
            <a:r>
              <a:rPr lang="en-US" sz="1200" i="1" dirty="0">
                <a:solidFill>
                  <a:schemeClr val="accent6"/>
                </a:solidFill>
              </a:rPr>
              <a:t>Figures come from the offline validation run (3,000 synthetic claims, DuckDB, stubbed Genie/LLM). Re-run notebook 01 in your workspace for live numbers.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Governance and trust controls</a:t>
            </a:r>
            <a:endParaRPr lang="en-US" sz="3600" dirty="0"/>
          </a:p>
        </p:txBody>
      </p:sp>
      <p:sp>
        <p:nvSpPr>
          <p:cNvPr id="3" name="Unity AI Gateway"/>
          <p:cNvSpPr/>
          <p:nvPr/>
        </p:nvSpPr>
        <p:spPr>
          <a:xfrm>
            <a:off x="548640" y="1280160"/>
            <a:ext cx="3566160" cy="2194560"/>
          </a:xfrm>
          <a:prstGeom prst="roundRect">
            <a:avLst>
              <a:gd name="adj" fmla="val 3333"/>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4" name="Unity AI Gateway badge"/>
          <p:cNvSpPr/>
          <p:nvPr/>
        </p:nvSpPr>
        <p:spPr>
          <a:xfrm>
            <a:off x="777240" y="1508760"/>
            <a:ext cx="640080" cy="640080"/>
          </a:xfrm>
          <a:prstGeom prst="ellipse">
            <a:avLst/>
          </a:prstGeom>
          <a:solidFill>
            <a:schemeClr val="accent1"/>
          </a:solidFill>
          <a:ln w="12700">
            <a:solidFill>
              <a:schemeClr val="accent1"/>
            </a:solidFill>
            <a:prstDash val="solid"/>
          </a:ln>
        </p:spPr>
      </p:sp>
      <p:pic>
        <p:nvPicPr>
          <p:cNvPr id="5" name="Unity AI Gateway icon" descr="Unity AI Gateway">    </p:cNvPr>
          <p:cNvPicPr>
            <a:picLocks noChangeAspect="1"/>
          </p:cNvPicPr>
          <p:nvPr/>
        </p:nvPicPr>
        <p:blipFill>
          <a:blip r:embed="rId1"/>
          <a:stretch>
            <a:fillRect/>
          </a:stretch>
        </p:blipFill>
        <p:spPr>
          <a:xfrm>
            <a:off x="937260" y="1668780"/>
            <a:ext cx="320040" cy="320040"/>
          </a:xfrm>
          <a:prstGeom prst="rect">
            <a:avLst/>
          </a:prstGeom>
        </p:spPr>
      </p:pic>
      <p:sp>
        <p:nvSpPr>
          <p:cNvPr id="6" name="Text 3"/>
          <p:cNvSpPr txBox="1"/>
          <p:nvPr/>
        </p:nvSpPr>
        <p:spPr>
          <a:xfrm>
            <a:off x="777240" y="22860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Unity AI Gateway</a:t>
            </a:r>
            <a:endParaRPr lang="en-US" sz="1800" dirty="0"/>
          </a:p>
        </p:txBody>
      </p:sp>
      <p:sp>
        <p:nvSpPr>
          <p:cNvPr id="7" name="Text 4"/>
          <p:cNvSpPr txBox="1"/>
          <p:nvPr/>
        </p:nvSpPr>
        <p:spPr>
          <a:xfrm>
            <a:off x="777240" y="2697480"/>
            <a:ext cx="3108960" cy="685800"/>
          </a:xfrm>
          <a:prstGeom prst="rect">
            <a:avLst/>
          </a:prstGeom>
          <a:noFill/>
          <a:ln/>
        </p:spPr>
        <p:txBody>
          <a:bodyPr wrap="square" lIns="0" tIns="0" rIns="0" bIns="0" rtlCol="0" anchor="t"/>
          <a:lstStyle/>
          <a:p>
            <a:pPr indent="0" marL="0">
              <a:buNone/>
            </a:pPr>
            <a:r>
              <a:rPr lang="en-US" sz="1300" dirty="0">
                <a:solidFill>
                  <a:schemeClr val="accent6"/>
                </a:solidFill>
              </a:rPr>
              <a:t>All LLM traffic: guardrails, rate limits, usage tracking, model swap</a:t>
            </a:r>
            <a:endParaRPr lang="en-US" sz="1300" dirty="0"/>
          </a:p>
        </p:txBody>
      </p:sp>
      <p:sp>
        <p:nvSpPr>
          <p:cNvPr id="8" name="Sandbox only"/>
          <p:cNvSpPr/>
          <p:nvPr/>
        </p:nvSpPr>
        <p:spPr>
          <a:xfrm>
            <a:off x="4297680" y="1280160"/>
            <a:ext cx="3566160" cy="2194560"/>
          </a:xfrm>
          <a:prstGeom prst="roundRect">
            <a:avLst>
              <a:gd name="adj" fmla="val 3333"/>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9" name="Sandbox only badge"/>
          <p:cNvSpPr/>
          <p:nvPr/>
        </p:nvSpPr>
        <p:spPr>
          <a:xfrm>
            <a:off x="4526280" y="1508760"/>
            <a:ext cx="640080" cy="640080"/>
          </a:xfrm>
          <a:prstGeom prst="ellipse">
            <a:avLst/>
          </a:prstGeom>
          <a:solidFill>
            <a:schemeClr val="accent1"/>
          </a:solidFill>
          <a:ln w="12700">
            <a:solidFill>
              <a:schemeClr val="accent1"/>
            </a:solidFill>
            <a:prstDash val="solid"/>
          </a:ln>
        </p:spPr>
      </p:sp>
      <p:pic>
        <p:nvPicPr>
          <p:cNvPr id="10" name="Sandbox only icon" descr="Sandbox only">    </p:cNvPr>
          <p:cNvPicPr>
            <a:picLocks noChangeAspect="1"/>
          </p:cNvPicPr>
          <p:nvPr/>
        </p:nvPicPr>
        <p:blipFill>
          <a:blip r:embed="rId2"/>
          <a:stretch>
            <a:fillRect/>
          </a:stretch>
        </p:blipFill>
        <p:spPr>
          <a:xfrm>
            <a:off x="4686300" y="1668780"/>
            <a:ext cx="320040" cy="320040"/>
          </a:xfrm>
          <a:prstGeom prst="rect">
            <a:avLst/>
          </a:prstGeom>
        </p:spPr>
      </p:pic>
      <p:sp>
        <p:nvSpPr>
          <p:cNvPr id="11" name="Text 7"/>
          <p:cNvSpPr txBox="1"/>
          <p:nvPr/>
        </p:nvSpPr>
        <p:spPr>
          <a:xfrm>
            <a:off x="4526280" y="22860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Sandbox only</a:t>
            </a:r>
            <a:endParaRPr lang="en-US" sz="1800" dirty="0"/>
          </a:p>
        </p:txBody>
      </p:sp>
      <p:sp>
        <p:nvSpPr>
          <p:cNvPr id="12" name="Text 8"/>
          <p:cNvSpPr txBox="1"/>
          <p:nvPr/>
        </p:nvSpPr>
        <p:spPr>
          <a:xfrm>
            <a:off x="4526280" y="2697480"/>
            <a:ext cx="3108960" cy="685800"/>
          </a:xfrm>
          <a:prstGeom prst="rect">
            <a:avLst/>
          </a:prstGeom>
          <a:noFill/>
          <a:ln/>
        </p:spPr>
        <p:txBody>
          <a:bodyPr wrap="square" lIns="0" tIns="0" rIns="0" bIns="0" rtlCol="0" anchor="t"/>
          <a:lstStyle/>
          <a:p>
            <a:pPr indent="0" marL="0">
              <a:buNone/>
            </a:pPr>
            <a:r>
              <a:rPr lang="en-US" sz="1300" dirty="0">
                <a:solidFill>
                  <a:schemeClr val="accent6"/>
                </a:solidFill>
              </a:rPr>
              <a:t>Tests write to sandbox; production tables are read-only inputs</a:t>
            </a:r>
            <a:endParaRPr lang="en-US" sz="1300" dirty="0"/>
          </a:p>
        </p:txBody>
      </p:sp>
      <p:sp>
        <p:nvSpPr>
          <p:cNvPr id="13" name="SELECT-only guard"/>
          <p:cNvSpPr/>
          <p:nvPr/>
        </p:nvSpPr>
        <p:spPr>
          <a:xfrm>
            <a:off x="8046720" y="1280160"/>
            <a:ext cx="3566160" cy="2194560"/>
          </a:xfrm>
          <a:prstGeom prst="roundRect">
            <a:avLst>
              <a:gd name="adj" fmla="val 3333"/>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14" name="SELECT-only guard badge"/>
          <p:cNvSpPr/>
          <p:nvPr/>
        </p:nvSpPr>
        <p:spPr>
          <a:xfrm>
            <a:off x="8275320" y="1508760"/>
            <a:ext cx="640080" cy="640080"/>
          </a:xfrm>
          <a:prstGeom prst="ellipse">
            <a:avLst/>
          </a:prstGeom>
          <a:solidFill>
            <a:schemeClr val="accent1"/>
          </a:solidFill>
          <a:ln w="12700">
            <a:solidFill>
              <a:schemeClr val="accent1"/>
            </a:solidFill>
            <a:prstDash val="solid"/>
          </a:ln>
        </p:spPr>
      </p:sp>
      <p:pic>
        <p:nvPicPr>
          <p:cNvPr id="15" name="SELECT-only guard icon" descr="SELECT-only guard">    </p:cNvPr>
          <p:cNvPicPr>
            <a:picLocks noChangeAspect="1"/>
          </p:cNvPicPr>
          <p:nvPr/>
        </p:nvPicPr>
        <p:blipFill>
          <a:blip r:embed="rId3"/>
          <a:stretch>
            <a:fillRect/>
          </a:stretch>
        </p:blipFill>
        <p:spPr>
          <a:xfrm>
            <a:off x="8435340" y="1668780"/>
            <a:ext cx="320040" cy="320040"/>
          </a:xfrm>
          <a:prstGeom prst="rect">
            <a:avLst/>
          </a:prstGeom>
        </p:spPr>
      </p:pic>
      <p:sp>
        <p:nvSpPr>
          <p:cNvPr id="16" name="Text 11"/>
          <p:cNvSpPr txBox="1"/>
          <p:nvPr/>
        </p:nvSpPr>
        <p:spPr>
          <a:xfrm>
            <a:off x="8275320" y="22860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SELECT-only guard</a:t>
            </a:r>
            <a:endParaRPr lang="en-US" sz="1800" dirty="0"/>
          </a:p>
        </p:txBody>
      </p:sp>
      <p:sp>
        <p:nvSpPr>
          <p:cNvPr id="17" name="Text 12"/>
          <p:cNvSpPr txBox="1"/>
          <p:nvPr/>
        </p:nvSpPr>
        <p:spPr>
          <a:xfrm>
            <a:off x="8275320" y="2697480"/>
            <a:ext cx="3108960" cy="685800"/>
          </a:xfrm>
          <a:prstGeom prst="rect">
            <a:avLst/>
          </a:prstGeom>
          <a:noFill/>
          <a:ln/>
        </p:spPr>
        <p:txBody>
          <a:bodyPr wrap="square" lIns="0" tIns="0" rIns="0" bIns="0" rtlCol="0" anchor="t"/>
          <a:lstStyle/>
          <a:p>
            <a:pPr indent="0" marL="0">
              <a:buNone/>
            </a:pPr>
            <a:r>
              <a:rPr lang="en-US" sz="1300" dirty="0">
                <a:solidFill>
                  <a:schemeClr val="accent6"/>
                </a:solidFill>
              </a:rPr>
              <a:t>Generated SQL is rejected unless it is a single read-only query</a:t>
            </a:r>
            <a:endParaRPr lang="en-US" sz="1300" dirty="0"/>
          </a:p>
        </p:txBody>
      </p:sp>
      <p:sp>
        <p:nvSpPr>
          <p:cNvPr id="18" name="Prompt audit"/>
          <p:cNvSpPr/>
          <p:nvPr/>
        </p:nvSpPr>
        <p:spPr>
          <a:xfrm>
            <a:off x="548640" y="3749040"/>
            <a:ext cx="3566160" cy="2194560"/>
          </a:xfrm>
          <a:prstGeom prst="roundRect">
            <a:avLst>
              <a:gd name="adj" fmla="val 3333"/>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19" name="Prompt audit badge"/>
          <p:cNvSpPr/>
          <p:nvPr/>
        </p:nvSpPr>
        <p:spPr>
          <a:xfrm>
            <a:off x="777240" y="3977640"/>
            <a:ext cx="640080" cy="640080"/>
          </a:xfrm>
          <a:prstGeom prst="ellipse">
            <a:avLst/>
          </a:prstGeom>
          <a:solidFill>
            <a:schemeClr val="accent1"/>
          </a:solidFill>
          <a:ln w="12700">
            <a:solidFill>
              <a:schemeClr val="accent1"/>
            </a:solidFill>
            <a:prstDash val="solid"/>
          </a:ln>
        </p:spPr>
      </p:sp>
      <p:pic>
        <p:nvPicPr>
          <p:cNvPr id="20" name="Prompt audit icon" descr="Prompt audit">    </p:cNvPr>
          <p:cNvPicPr>
            <a:picLocks noChangeAspect="1"/>
          </p:cNvPicPr>
          <p:nvPr/>
        </p:nvPicPr>
        <p:blipFill>
          <a:blip r:embed="rId4"/>
          <a:stretch>
            <a:fillRect/>
          </a:stretch>
        </p:blipFill>
        <p:spPr>
          <a:xfrm>
            <a:off x="937260" y="4137660"/>
            <a:ext cx="320040" cy="320040"/>
          </a:xfrm>
          <a:prstGeom prst="rect">
            <a:avLst/>
          </a:prstGeom>
        </p:spPr>
      </p:pic>
      <p:sp>
        <p:nvSpPr>
          <p:cNvPr id="21" name="Text 15"/>
          <p:cNvSpPr txBox="1"/>
          <p:nvPr/>
        </p:nvSpPr>
        <p:spPr>
          <a:xfrm>
            <a:off x="777240" y="4754880"/>
            <a:ext cx="3108960" cy="365760"/>
          </a:xfrm>
          <a:prstGeom prst="rect">
            <a:avLst/>
          </a:prstGeom>
          <a:noFill/>
          <a:ln/>
        </p:spPr>
        <p:txBody>
          <a:bodyPr wrap="square" lIns="0" tIns="0" rIns="0" bIns="0" rtlCol="0" anchor="t"/>
          <a:lstStyle/>
          <a:p>
            <a:pPr indent="0" marL="0">
              <a:buNone/>
            </a:pPr>
            <a:r>
              <a:rPr lang="en-US" sz="1800" b="1" dirty="0">
                <a:solidFill>
                  <a:schemeClr val="tx1"/>
                </a:solidFill>
              </a:rPr>
              <a:t>Prompt audit</a:t>
            </a:r>
            <a:endParaRPr lang="en-US" sz="1800" dirty="0"/>
          </a:p>
        </p:txBody>
      </p:sp>
      <p:sp>
        <p:nvSpPr>
          <p:cNvPr id="22" name="Text 16"/>
          <p:cNvSpPr txBox="1"/>
          <p:nvPr/>
        </p:nvSpPr>
        <p:spPr>
          <a:xfrm>
            <a:off x="777240" y="5166360"/>
            <a:ext cx="3108960" cy="685800"/>
          </a:xfrm>
          <a:prstGeom prst="rect">
            <a:avLst/>
          </a:prstGeom>
          <a:noFill/>
          <a:ln/>
        </p:spPr>
        <p:txBody>
          <a:bodyPr wrap="square" lIns="0" tIns="0" rIns="0" bIns="0" rtlCol="0" anchor="t"/>
          <a:lstStyle/>
          <a:p>
            <a:pPr indent="0" marL="0">
              <a:buNone/>
            </a:pPr>
            <a:r>
              <a:rPr lang="en-US" sz="1300" dirty="0">
                <a:solidFill>
                  <a:schemeClr val="accent6"/>
                </a:solidFill>
              </a:rPr>
              <a:t>Prompt text + skill version hash stored for every run</a:t>
            </a:r>
            <a:endParaRPr lang="en-US" sz="1300" dirty="0"/>
          </a:p>
        </p:txBody>
      </p:sp>
      <p:sp>
        <p:nvSpPr>
          <p:cNvPr id="23" name="Unity Catalog policies"/>
          <p:cNvSpPr/>
          <p:nvPr/>
        </p:nvSpPr>
        <p:spPr>
          <a:xfrm>
            <a:off x="4297680" y="3749040"/>
            <a:ext cx="3566160" cy="2194560"/>
          </a:xfrm>
          <a:prstGeom prst="roundRect">
            <a:avLst>
              <a:gd name="adj" fmla="val 3333"/>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24" name="Unity Catalog policies badge"/>
          <p:cNvSpPr/>
          <p:nvPr/>
        </p:nvSpPr>
        <p:spPr>
          <a:xfrm>
            <a:off x="4526280" y="3977640"/>
            <a:ext cx="640080" cy="640080"/>
          </a:xfrm>
          <a:prstGeom prst="ellipse">
            <a:avLst/>
          </a:prstGeom>
          <a:solidFill>
            <a:schemeClr val="accent1"/>
          </a:solidFill>
          <a:ln w="12700">
            <a:solidFill>
              <a:schemeClr val="accent1"/>
            </a:solidFill>
            <a:prstDash val="solid"/>
          </a:ln>
        </p:spPr>
      </p:sp>
      <p:pic>
        <p:nvPicPr>
          <p:cNvPr id="25" name="Unity Catalog policies icon" descr="Unity Catalog policies">    </p:cNvPr>
          <p:cNvPicPr>
            <a:picLocks noChangeAspect="1"/>
          </p:cNvPicPr>
          <p:nvPr/>
        </p:nvPicPr>
        <p:blipFill>
          <a:blip r:embed="rId5"/>
          <a:stretch>
            <a:fillRect/>
          </a:stretch>
        </p:blipFill>
        <p:spPr>
          <a:xfrm>
            <a:off x="4686300" y="4137660"/>
            <a:ext cx="320040" cy="320040"/>
          </a:xfrm>
          <a:prstGeom prst="rect">
            <a:avLst/>
          </a:prstGeom>
        </p:spPr>
      </p:pic>
      <p:sp>
        <p:nvSpPr>
          <p:cNvPr id="26" name="Text 19"/>
          <p:cNvSpPr txBox="1"/>
          <p:nvPr/>
        </p:nvSpPr>
        <p:spPr>
          <a:xfrm>
            <a:off x="4526280" y="4754880"/>
            <a:ext cx="3108960" cy="365760"/>
          </a:xfrm>
          <a:prstGeom prst="rect">
            <a:avLst/>
          </a:prstGeom>
          <a:noFill/>
          <a:ln/>
        </p:spPr>
        <p:txBody>
          <a:bodyPr wrap="square" lIns="0" tIns="0" rIns="0" bIns="0" rtlCol="0" anchor="t"/>
          <a:lstStyle/>
          <a:p>
            <a:pPr indent="0" marL="0">
              <a:buNone/>
            </a:pPr>
            <a:r>
              <a:rPr lang="en-US" sz="1800" b="1" dirty="0">
                <a:solidFill>
                  <a:schemeClr val="tx1"/>
                </a:solidFill>
              </a:rPr>
              <a:t>Unity Catalog policies</a:t>
            </a:r>
            <a:endParaRPr lang="en-US" sz="1800" dirty="0"/>
          </a:p>
        </p:txBody>
      </p:sp>
      <p:sp>
        <p:nvSpPr>
          <p:cNvPr id="27" name="Text 20"/>
          <p:cNvSpPr txBox="1"/>
          <p:nvPr/>
        </p:nvSpPr>
        <p:spPr>
          <a:xfrm>
            <a:off x="4526280" y="5166360"/>
            <a:ext cx="3108960" cy="685800"/>
          </a:xfrm>
          <a:prstGeom prst="rect">
            <a:avLst/>
          </a:prstGeom>
          <a:noFill/>
          <a:ln/>
        </p:spPr>
        <p:txBody>
          <a:bodyPr wrap="square" lIns="0" tIns="0" rIns="0" bIns="0" rtlCol="0" anchor="t"/>
          <a:lstStyle/>
          <a:p>
            <a:pPr indent="0" marL="0">
              <a:buNone/>
            </a:pPr>
            <a:r>
              <a:rPr lang="en-US" sz="1300" dirty="0">
                <a:solidFill>
                  <a:schemeClr val="accent6"/>
                </a:solidFill>
              </a:rPr>
              <a:t>Genie and tests respect row/column policies and lineage</a:t>
            </a:r>
            <a:endParaRPr lang="en-US" sz="1300" dirty="0"/>
          </a:p>
        </p:txBody>
      </p:sp>
      <p:sp>
        <p:nvSpPr>
          <p:cNvPr id="28" name="CI gate"/>
          <p:cNvSpPr/>
          <p:nvPr/>
        </p:nvSpPr>
        <p:spPr>
          <a:xfrm>
            <a:off x="8046720" y="3749040"/>
            <a:ext cx="3566160" cy="2194560"/>
          </a:xfrm>
          <a:prstGeom prst="roundRect">
            <a:avLst>
              <a:gd name="adj" fmla="val 3333"/>
            </a:avLst>
          </a:prstGeom>
          <a:solidFill>
            <a:schemeClr val="bg1"/>
          </a:solidFill>
          <a:ln w="12700">
            <a:solidFill>
              <a:schemeClr val="accent1"/>
            </a:solidFill>
            <a:prstDash val="solid"/>
          </a:ln>
          <a:effectLst>
            <a:outerShdw sx="100000" sy="100000" kx="0" ky="0" algn="bl" rotWithShape="0" blurRad="76200" dist="25400" dir="5400000">
              <a:srgbClr val="0F2A33">
                <a:alpha val="18000"/>
              </a:srgbClr>
            </a:outerShdw>
          </a:effectLst>
        </p:spPr>
      </p:sp>
      <p:sp>
        <p:nvSpPr>
          <p:cNvPr id="29" name="CI gate badge"/>
          <p:cNvSpPr/>
          <p:nvPr/>
        </p:nvSpPr>
        <p:spPr>
          <a:xfrm>
            <a:off x="8275320" y="3977640"/>
            <a:ext cx="640080" cy="640080"/>
          </a:xfrm>
          <a:prstGeom prst="ellipse">
            <a:avLst/>
          </a:prstGeom>
          <a:solidFill>
            <a:schemeClr val="accent1"/>
          </a:solidFill>
          <a:ln w="12700">
            <a:solidFill>
              <a:schemeClr val="accent1"/>
            </a:solidFill>
            <a:prstDash val="solid"/>
          </a:ln>
        </p:spPr>
      </p:sp>
      <p:pic>
        <p:nvPicPr>
          <p:cNvPr id="30" name="CI gate icon" descr="CI gate">    </p:cNvPr>
          <p:cNvPicPr>
            <a:picLocks noChangeAspect="1"/>
          </p:cNvPicPr>
          <p:nvPr/>
        </p:nvPicPr>
        <p:blipFill>
          <a:blip r:embed="rId6"/>
          <a:stretch>
            <a:fillRect/>
          </a:stretch>
        </p:blipFill>
        <p:spPr>
          <a:xfrm>
            <a:off x="8435340" y="4137660"/>
            <a:ext cx="320040" cy="320040"/>
          </a:xfrm>
          <a:prstGeom prst="rect">
            <a:avLst/>
          </a:prstGeom>
        </p:spPr>
      </p:pic>
      <p:sp>
        <p:nvSpPr>
          <p:cNvPr id="31" name="Text 23"/>
          <p:cNvSpPr txBox="1"/>
          <p:nvPr/>
        </p:nvSpPr>
        <p:spPr>
          <a:xfrm>
            <a:off x="8275320" y="4754880"/>
            <a:ext cx="3108960" cy="365760"/>
          </a:xfrm>
          <a:prstGeom prst="rect">
            <a:avLst/>
          </a:prstGeom>
          <a:noFill/>
          <a:ln/>
        </p:spPr>
        <p:txBody>
          <a:bodyPr wrap="square" lIns="0" tIns="0" rIns="0" bIns="0" rtlCol="0" anchor="t"/>
          <a:lstStyle/>
          <a:p>
            <a:pPr indent="0" marL="0">
              <a:buNone/>
            </a:pPr>
            <a:r>
              <a:rPr lang="en-US" sz="1800" b="1" dirty="0">
                <a:solidFill>
                  <a:schemeClr val="tx1"/>
                </a:solidFill>
              </a:rPr>
              <a:t>CI gate</a:t>
            </a:r>
            <a:endParaRPr lang="en-US" sz="1800" dirty="0"/>
          </a:p>
        </p:txBody>
      </p:sp>
      <p:sp>
        <p:nvSpPr>
          <p:cNvPr id="32" name="Text 24"/>
          <p:cNvSpPr txBox="1"/>
          <p:nvPr/>
        </p:nvSpPr>
        <p:spPr>
          <a:xfrm>
            <a:off x="8275320" y="5166360"/>
            <a:ext cx="3108960" cy="685800"/>
          </a:xfrm>
          <a:prstGeom prst="rect">
            <a:avLst/>
          </a:prstGeom>
          <a:noFill/>
          <a:ln/>
        </p:spPr>
        <p:txBody>
          <a:bodyPr wrap="square" lIns="0" tIns="0" rIns="0" bIns="0" rtlCol="0" anchor="t"/>
          <a:lstStyle/>
          <a:p>
            <a:pPr indent="0" marL="0">
              <a:buNone/>
            </a:pPr>
            <a:r>
              <a:rPr lang="en-US" sz="1300" dirty="0">
                <a:solidFill>
                  <a:schemeClr val="accent6"/>
                </a:solidFill>
              </a:rPr>
              <a:t>BLOCK verdict fails the job and can stop the merge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QL Sentinels Healthcare">
  <a:themeElements>
    <a:clrScheme name="SQL Sentinels Healthcare">
      <a:dk1>
        <a:srgbClr val="0F2A33"/>
      </a:dk1>
      <a:lt1>
        <a:srgbClr val="FFFFFF"/>
      </a:lt1>
      <a:dk2>
        <a:srgbClr val="028090"/>
      </a:dk2>
      <a:lt2>
        <a:srgbClr val="E8F4F3"/>
      </a:lt2>
      <a:accent1>
        <a:srgbClr val="028090"/>
      </a:accent1>
      <a:accent2>
        <a:srgbClr val="00A896"/>
      </a:accent2>
      <a:accent3>
        <a:srgbClr val="E4572E"/>
      </a:accent3>
      <a:accent4>
        <a:srgbClr val="F2B134"/>
      </a:accent4>
      <a:accent5>
        <a:srgbClr val="3A6EA5"/>
      </a:accent5>
      <a:accent6>
        <a:srgbClr val="6C7A89"/>
      </a:accent6>
      <a:hlink>
        <a:srgbClr val="028090"/>
      </a:hlink>
      <a:folHlink>
        <a:srgbClr val="6C7A89"/>
      </a:folHlink>
    </a:clrScheme>
    <a:fontScheme name="SQL Sentinels Healthca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Sentinels - Healthcare Claims Architecture</dc:title>
  <dc:subject>PptxGenJS Presentation</dc:subject>
  <dc:creator>SQL Sentinels</dc:creator>
  <cp:lastModifiedBy>SQL Sentinels</cp:lastModifiedBy>
  <cp:revision>1</cp:revision>
  <dcterms:created xsi:type="dcterms:W3CDTF">2026-10-15T09:22:28Z</dcterms:created>
  <dcterms:modified xsi:type="dcterms:W3CDTF">2026-10-15T09:22:28Z</dcterms:modified>
</cp:coreProperties>
</file>